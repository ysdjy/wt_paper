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60" r:id="rId4"/>
    <p:sldId id="259" r:id="rId5"/>
    <p:sldId id="261" r:id="rId6"/>
    <p:sldId id="262" r:id="rId7"/>
    <p:sldId id="257" r:id="rId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391" autoAdjust="0"/>
    <p:restoredTop sz="94660"/>
  </p:normalViewPr>
  <p:slideViewPr>
    <p:cSldViewPr snapToGrid="0">
      <p:cViewPr>
        <p:scale>
          <a:sx n="75" d="100"/>
          <a:sy n="75" d="100"/>
        </p:scale>
        <p:origin x="1300" y="6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BC5C3E-2B9C-4D5F-CE22-969B5083220A}"/>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3163A92B-1CB8-9067-20A8-6A514A07B60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8CE399FB-3C4F-9ADF-8674-FF6873E7DF7D}"/>
              </a:ext>
            </a:extLst>
          </p:cNvPr>
          <p:cNvSpPr>
            <a:spLocks noGrp="1"/>
          </p:cNvSpPr>
          <p:nvPr>
            <p:ph type="dt" sz="half" idx="10"/>
          </p:nvPr>
        </p:nvSpPr>
        <p:spPr/>
        <p:txBody>
          <a:bodyPr/>
          <a:lstStyle/>
          <a:p>
            <a:fld id="{FAF1498D-6596-4318-B1B3-57BB075DBF5C}" type="datetimeFigureOut">
              <a:rPr lang="zh-CN" altLang="en-US" smtClean="0"/>
              <a:t>2026/8/14</a:t>
            </a:fld>
            <a:endParaRPr lang="zh-CN" altLang="en-US"/>
          </a:p>
        </p:txBody>
      </p:sp>
      <p:sp>
        <p:nvSpPr>
          <p:cNvPr id="5" name="页脚占位符 4">
            <a:extLst>
              <a:ext uri="{FF2B5EF4-FFF2-40B4-BE49-F238E27FC236}">
                <a16:creationId xmlns:a16="http://schemas.microsoft.com/office/drawing/2014/main" id="{08392FB2-D496-87FD-F230-4DF0D14AFC0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6E98171-5C02-D460-AA2E-76D5922CFD02}"/>
              </a:ext>
            </a:extLst>
          </p:cNvPr>
          <p:cNvSpPr>
            <a:spLocks noGrp="1"/>
          </p:cNvSpPr>
          <p:nvPr>
            <p:ph type="sldNum" sz="quarter" idx="12"/>
          </p:nvPr>
        </p:nvSpPr>
        <p:spPr/>
        <p:txBody>
          <a:bodyPr/>
          <a:lstStyle/>
          <a:p>
            <a:fld id="{E10F70E1-56AE-462B-B653-4ADA3DCBCB5B}" type="slidenum">
              <a:rPr lang="zh-CN" altLang="en-US" smtClean="0"/>
              <a:t>‹#›</a:t>
            </a:fld>
            <a:endParaRPr lang="zh-CN" altLang="en-US"/>
          </a:p>
        </p:txBody>
      </p:sp>
    </p:spTree>
    <p:extLst>
      <p:ext uri="{BB962C8B-B14F-4D97-AF65-F5344CB8AC3E}">
        <p14:creationId xmlns:p14="http://schemas.microsoft.com/office/powerpoint/2010/main" val="490656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51586E-65FE-8E6E-4F58-213F9CB5086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98A46CE-26C2-E676-F1B7-1D7EB5458604}"/>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8656415-6C0D-A2F8-B494-3E0A4A78EFFD}"/>
              </a:ext>
            </a:extLst>
          </p:cNvPr>
          <p:cNvSpPr>
            <a:spLocks noGrp="1"/>
          </p:cNvSpPr>
          <p:nvPr>
            <p:ph type="dt" sz="half" idx="10"/>
          </p:nvPr>
        </p:nvSpPr>
        <p:spPr/>
        <p:txBody>
          <a:bodyPr/>
          <a:lstStyle/>
          <a:p>
            <a:fld id="{FAF1498D-6596-4318-B1B3-57BB075DBF5C}" type="datetimeFigureOut">
              <a:rPr lang="zh-CN" altLang="en-US" smtClean="0"/>
              <a:t>2026/8/14</a:t>
            </a:fld>
            <a:endParaRPr lang="zh-CN" altLang="en-US"/>
          </a:p>
        </p:txBody>
      </p:sp>
      <p:sp>
        <p:nvSpPr>
          <p:cNvPr id="5" name="页脚占位符 4">
            <a:extLst>
              <a:ext uri="{FF2B5EF4-FFF2-40B4-BE49-F238E27FC236}">
                <a16:creationId xmlns:a16="http://schemas.microsoft.com/office/drawing/2014/main" id="{F02EBD33-0B0C-7AC6-898A-347E993CB38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FF4031C-D768-FBF4-E881-33B9E37E3844}"/>
              </a:ext>
            </a:extLst>
          </p:cNvPr>
          <p:cNvSpPr>
            <a:spLocks noGrp="1"/>
          </p:cNvSpPr>
          <p:nvPr>
            <p:ph type="sldNum" sz="quarter" idx="12"/>
          </p:nvPr>
        </p:nvSpPr>
        <p:spPr/>
        <p:txBody>
          <a:bodyPr/>
          <a:lstStyle/>
          <a:p>
            <a:fld id="{E10F70E1-56AE-462B-B653-4ADA3DCBCB5B}" type="slidenum">
              <a:rPr lang="zh-CN" altLang="en-US" smtClean="0"/>
              <a:t>‹#›</a:t>
            </a:fld>
            <a:endParaRPr lang="zh-CN" altLang="en-US"/>
          </a:p>
        </p:txBody>
      </p:sp>
    </p:spTree>
    <p:extLst>
      <p:ext uri="{BB962C8B-B14F-4D97-AF65-F5344CB8AC3E}">
        <p14:creationId xmlns:p14="http://schemas.microsoft.com/office/powerpoint/2010/main" val="3914802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925586-AF39-DE0A-6A49-DA219D2523FA}"/>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81CB8CA-639B-9523-D4A1-22675F486EE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C28AB15F-3734-C160-9BE9-5334B0E738FB}"/>
              </a:ext>
            </a:extLst>
          </p:cNvPr>
          <p:cNvSpPr>
            <a:spLocks noGrp="1"/>
          </p:cNvSpPr>
          <p:nvPr>
            <p:ph type="dt" sz="half" idx="10"/>
          </p:nvPr>
        </p:nvSpPr>
        <p:spPr/>
        <p:txBody>
          <a:bodyPr/>
          <a:lstStyle/>
          <a:p>
            <a:fld id="{FAF1498D-6596-4318-B1B3-57BB075DBF5C}" type="datetimeFigureOut">
              <a:rPr lang="zh-CN" altLang="en-US" smtClean="0"/>
              <a:t>2026/8/14</a:t>
            </a:fld>
            <a:endParaRPr lang="zh-CN" altLang="en-US"/>
          </a:p>
        </p:txBody>
      </p:sp>
      <p:sp>
        <p:nvSpPr>
          <p:cNvPr id="5" name="页脚占位符 4">
            <a:extLst>
              <a:ext uri="{FF2B5EF4-FFF2-40B4-BE49-F238E27FC236}">
                <a16:creationId xmlns:a16="http://schemas.microsoft.com/office/drawing/2014/main" id="{C5220F3A-896A-B6D1-C53B-EAEFFF150FD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632113E-F7D6-BF4A-4CB9-84C641CD9E11}"/>
              </a:ext>
            </a:extLst>
          </p:cNvPr>
          <p:cNvSpPr>
            <a:spLocks noGrp="1"/>
          </p:cNvSpPr>
          <p:nvPr>
            <p:ph type="sldNum" sz="quarter" idx="12"/>
          </p:nvPr>
        </p:nvSpPr>
        <p:spPr/>
        <p:txBody>
          <a:bodyPr/>
          <a:lstStyle/>
          <a:p>
            <a:fld id="{E10F70E1-56AE-462B-B653-4ADA3DCBCB5B}" type="slidenum">
              <a:rPr lang="zh-CN" altLang="en-US" smtClean="0"/>
              <a:t>‹#›</a:t>
            </a:fld>
            <a:endParaRPr lang="zh-CN" altLang="en-US"/>
          </a:p>
        </p:txBody>
      </p:sp>
    </p:spTree>
    <p:extLst>
      <p:ext uri="{BB962C8B-B14F-4D97-AF65-F5344CB8AC3E}">
        <p14:creationId xmlns:p14="http://schemas.microsoft.com/office/powerpoint/2010/main" val="42597679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B1E62F-6372-1E1A-8292-9366AED15E2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88FF9C0-BB5F-3628-367A-03AF55FE7D42}"/>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7803E5BE-6882-7265-76A8-2684A84ACEFD}"/>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6C8F45CD-7937-15D3-C4AA-CCA7DB313302}"/>
              </a:ext>
            </a:extLst>
          </p:cNvPr>
          <p:cNvSpPr>
            <a:spLocks noGrp="1"/>
          </p:cNvSpPr>
          <p:nvPr>
            <p:ph type="dt" sz="half" idx="10"/>
          </p:nvPr>
        </p:nvSpPr>
        <p:spPr/>
        <p:txBody>
          <a:bodyPr/>
          <a:lstStyle/>
          <a:p>
            <a:fld id="{FAF1498D-6596-4318-B1B3-57BB075DBF5C}" type="datetimeFigureOut">
              <a:rPr lang="zh-CN" altLang="en-US" smtClean="0"/>
              <a:t>2026/8/14</a:t>
            </a:fld>
            <a:endParaRPr lang="zh-CN" altLang="en-US"/>
          </a:p>
        </p:txBody>
      </p:sp>
      <p:sp>
        <p:nvSpPr>
          <p:cNvPr id="6" name="页脚占位符 5">
            <a:extLst>
              <a:ext uri="{FF2B5EF4-FFF2-40B4-BE49-F238E27FC236}">
                <a16:creationId xmlns:a16="http://schemas.microsoft.com/office/drawing/2014/main" id="{64E18208-3C93-4C01-5AE6-D8FB4682DE1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A9C414F-DEB5-F214-5216-1A0694E4E04E}"/>
              </a:ext>
            </a:extLst>
          </p:cNvPr>
          <p:cNvSpPr>
            <a:spLocks noGrp="1"/>
          </p:cNvSpPr>
          <p:nvPr>
            <p:ph type="sldNum" sz="quarter" idx="12"/>
          </p:nvPr>
        </p:nvSpPr>
        <p:spPr/>
        <p:txBody>
          <a:bodyPr/>
          <a:lstStyle/>
          <a:p>
            <a:fld id="{E10F70E1-56AE-462B-B653-4ADA3DCBCB5B}" type="slidenum">
              <a:rPr lang="zh-CN" altLang="en-US" smtClean="0"/>
              <a:t>‹#›</a:t>
            </a:fld>
            <a:endParaRPr lang="zh-CN" altLang="en-US"/>
          </a:p>
        </p:txBody>
      </p:sp>
    </p:spTree>
    <p:extLst>
      <p:ext uri="{BB962C8B-B14F-4D97-AF65-F5344CB8AC3E}">
        <p14:creationId xmlns:p14="http://schemas.microsoft.com/office/powerpoint/2010/main" val="36259048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EBBA3-5860-6B07-03AE-8D70763978F3}"/>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FCD8BBAA-F250-28BF-6B53-35FA6A4DD84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1158448B-E277-CCEE-2102-AB311B5CB91B}"/>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021EF04E-0630-F3C3-1681-86B0EDCE45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5CE8E229-E34C-DDCB-A1CB-F345BBA3326C}"/>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731D9B18-9ABF-3853-AA04-A707365942A5}"/>
              </a:ext>
            </a:extLst>
          </p:cNvPr>
          <p:cNvSpPr>
            <a:spLocks noGrp="1"/>
          </p:cNvSpPr>
          <p:nvPr>
            <p:ph type="dt" sz="half" idx="10"/>
          </p:nvPr>
        </p:nvSpPr>
        <p:spPr/>
        <p:txBody>
          <a:bodyPr/>
          <a:lstStyle/>
          <a:p>
            <a:fld id="{FAF1498D-6596-4318-B1B3-57BB075DBF5C}" type="datetimeFigureOut">
              <a:rPr lang="zh-CN" altLang="en-US" smtClean="0"/>
              <a:t>2026/8/14</a:t>
            </a:fld>
            <a:endParaRPr lang="zh-CN" altLang="en-US"/>
          </a:p>
        </p:txBody>
      </p:sp>
      <p:sp>
        <p:nvSpPr>
          <p:cNvPr id="8" name="页脚占位符 7">
            <a:extLst>
              <a:ext uri="{FF2B5EF4-FFF2-40B4-BE49-F238E27FC236}">
                <a16:creationId xmlns:a16="http://schemas.microsoft.com/office/drawing/2014/main" id="{8FAE8E23-21E2-AAF2-6E6A-6FA40B098542}"/>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25C0C8A1-4B31-F955-5866-CC98AEB71A9F}"/>
              </a:ext>
            </a:extLst>
          </p:cNvPr>
          <p:cNvSpPr>
            <a:spLocks noGrp="1"/>
          </p:cNvSpPr>
          <p:nvPr>
            <p:ph type="sldNum" sz="quarter" idx="12"/>
          </p:nvPr>
        </p:nvSpPr>
        <p:spPr/>
        <p:txBody>
          <a:bodyPr/>
          <a:lstStyle/>
          <a:p>
            <a:fld id="{E10F70E1-56AE-462B-B653-4ADA3DCBCB5B}" type="slidenum">
              <a:rPr lang="zh-CN" altLang="en-US" smtClean="0"/>
              <a:t>‹#›</a:t>
            </a:fld>
            <a:endParaRPr lang="zh-CN" altLang="en-US"/>
          </a:p>
        </p:txBody>
      </p:sp>
    </p:spTree>
    <p:extLst>
      <p:ext uri="{BB962C8B-B14F-4D97-AF65-F5344CB8AC3E}">
        <p14:creationId xmlns:p14="http://schemas.microsoft.com/office/powerpoint/2010/main" val="42624081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9E19BD-A2B6-D538-3FF2-18CA881B1847}"/>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97CD2214-FBD4-BE9C-7231-038A8B349D3A}"/>
              </a:ext>
            </a:extLst>
          </p:cNvPr>
          <p:cNvSpPr>
            <a:spLocks noGrp="1"/>
          </p:cNvSpPr>
          <p:nvPr>
            <p:ph type="dt" sz="half" idx="10"/>
          </p:nvPr>
        </p:nvSpPr>
        <p:spPr/>
        <p:txBody>
          <a:bodyPr/>
          <a:lstStyle/>
          <a:p>
            <a:fld id="{FAF1498D-6596-4318-B1B3-57BB075DBF5C}" type="datetimeFigureOut">
              <a:rPr lang="zh-CN" altLang="en-US" smtClean="0"/>
              <a:t>2026/8/14</a:t>
            </a:fld>
            <a:endParaRPr lang="zh-CN" altLang="en-US"/>
          </a:p>
        </p:txBody>
      </p:sp>
      <p:sp>
        <p:nvSpPr>
          <p:cNvPr id="4" name="页脚占位符 3">
            <a:extLst>
              <a:ext uri="{FF2B5EF4-FFF2-40B4-BE49-F238E27FC236}">
                <a16:creationId xmlns:a16="http://schemas.microsoft.com/office/drawing/2014/main" id="{F130CCCB-D60C-F460-6213-0AD85492FBE5}"/>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C18FF522-3136-99E9-C34F-CEF70676F003}"/>
              </a:ext>
            </a:extLst>
          </p:cNvPr>
          <p:cNvSpPr>
            <a:spLocks noGrp="1"/>
          </p:cNvSpPr>
          <p:nvPr>
            <p:ph type="sldNum" sz="quarter" idx="12"/>
          </p:nvPr>
        </p:nvSpPr>
        <p:spPr/>
        <p:txBody>
          <a:bodyPr/>
          <a:lstStyle/>
          <a:p>
            <a:fld id="{E10F70E1-56AE-462B-B653-4ADA3DCBCB5B}" type="slidenum">
              <a:rPr lang="zh-CN" altLang="en-US" smtClean="0"/>
              <a:t>‹#›</a:t>
            </a:fld>
            <a:endParaRPr lang="zh-CN" altLang="en-US"/>
          </a:p>
        </p:txBody>
      </p:sp>
    </p:spTree>
    <p:extLst>
      <p:ext uri="{BB962C8B-B14F-4D97-AF65-F5344CB8AC3E}">
        <p14:creationId xmlns:p14="http://schemas.microsoft.com/office/powerpoint/2010/main" val="9852680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3C1D149-82C5-4F10-FCB4-1B7C9FD24CFA}"/>
              </a:ext>
            </a:extLst>
          </p:cNvPr>
          <p:cNvSpPr>
            <a:spLocks noGrp="1"/>
          </p:cNvSpPr>
          <p:nvPr>
            <p:ph type="dt" sz="half" idx="10"/>
          </p:nvPr>
        </p:nvSpPr>
        <p:spPr/>
        <p:txBody>
          <a:bodyPr/>
          <a:lstStyle/>
          <a:p>
            <a:fld id="{FAF1498D-6596-4318-B1B3-57BB075DBF5C}" type="datetimeFigureOut">
              <a:rPr lang="zh-CN" altLang="en-US" smtClean="0"/>
              <a:t>2026/8/14</a:t>
            </a:fld>
            <a:endParaRPr lang="zh-CN" altLang="en-US"/>
          </a:p>
        </p:txBody>
      </p:sp>
      <p:sp>
        <p:nvSpPr>
          <p:cNvPr id="3" name="页脚占位符 2">
            <a:extLst>
              <a:ext uri="{FF2B5EF4-FFF2-40B4-BE49-F238E27FC236}">
                <a16:creationId xmlns:a16="http://schemas.microsoft.com/office/drawing/2014/main" id="{84C978B9-803E-268B-2D31-B8D987607099}"/>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B1EC77F3-974F-6F81-97D8-6FCDB45CCF67}"/>
              </a:ext>
            </a:extLst>
          </p:cNvPr>
          <p:cNvSpPr>
            <a:spLocks noGrp="1"/>
          </p:cNvSpPr>
          <p:nvPr>
            <p:ph type="sldNum" sz="quarter" idx="12"/>
          </p:nvPr>
        </p:nvSpPr>
        <p:spPr/>
        <p:txBody>
          <a:bodyPr/>
          <a:lstStyle/>
          <a:p>
            <a:fld id="{E10F70E1-56AE-462B-B653-4ADA3DCBCB5B}" type="slidenum">
              <a:rPr lang="zh-CN" altLang="en-US" smtClean="0"/>
              <a:t>‹#›</a:t>
            </a:fld>
            <a:endParaRPr lang="zh-CN" altLang="en-US"/>
          </a:p>
        </p:txBody>
      </p:sp>
    </p:spTree>
    <p:extLst>
      <p:ext uri="{BB962C8B-B14F-4D97-AF65-F5344CB8AC3E}">
        <p14:creationId xmlns:p14="http://schemas.microsoft.com/office/powerpoint/2010/main" val="36881615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57391C-A9DB-8716-0E83-C618088E3AE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F077A55C-0A60-8D54-2A74-D03969A9AB4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BAA075DE-5B5D-5E54-5E0A-A1D33264F3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7B2CFD6-EB23-302B-E8B3-81F113F1B9FA}"/>
              </a:ext>
            </a:extLst>
          </p:cNvPr>
          <p:cNvSpPr>
            <a:spLocks noGrp="1"/>
          </p:cNvSpPr>
          <p:nvPr>
            <p:ph type="dt" sz="half" idx="10"/>
          </p:nvPr>
        </p:nvSpPr>
        <p:spPr/>
        <p:txBody>
          <a:bodyPr/>
          <a:lstStyle/>
          <a:p>
            <a:fld id="{FAF1498D-6596-4318-B1B3-57BB075DBF5C}" type="datetimeFigureOut">
              <a:rPr lang="zh-CN" altLang="en-US" smtClean="0"/>
              <a:t>2026/8/14</a:t>
            </a:fld>
            <a:endParaRPr lang="zh-CN" altLang="en-US"/>
          </a:p>
        </p:txBody>
      </p:sp>
      <p:sp>
        <p:nvSpPr>
          <p:cNvPr id="6" name="页脚占位符 5">
            <a:extLst>
              <a:ext uri="{FF2B5EF4-FFF2-40B4-BE49-F238E27FC236}">
                <a16:creationId xmlns:a16="http://schemas.microsoft.com/office/drawing/2014/main" id="{D09C3106-C27A-E982-8D02-DF32DF4C549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0E2C802-FD71-172C-78C2-03F04E57FBE9}"/>
              </a:ext>
            </a:extLst>
          </p:cNvPr>
          <p:cNvSpPr>
            <a:spLocks noGrp="1"/>
          </p:cNvSpPr>
          <p:nvPr>
            <p:ph type="sldNum" sz="quarter" idx="12"/>
          </p:nvPr>
        </p:nvSpPr>
        <p:spPr/>
        <p:txBody>
          <a:bodyPr/>
          <a:lstStyle/>
          <a:p>
            <a:fld id="{E10F70E1-56AE-462B-B653-4ADA3DCBCB5B}" type="slidenum">
              <a:rPr lang="zh-CN" altLang="en-US" smtClean="0"/>
              <a:t>‹#›</a:t>
            </a:fld>
            <a:endParaRPr lang="zh-CN" altLang="en-US"/>
          </a:p>
        </p:txBody>
      </p:sp>
    </p:spTree>
    <p:extLst>
      <p:ext uri="{BB962C8B-B14F-4D97-AF65-F5344CB8AC3E}">
        <p14:creationId xmlns:p14="http://schemas.microsoft.com/office/powerpoint/2010/main" val="24933901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622CAA-E2F6-2930-59DD-FE3418DCD05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583CF774-927B-69A8-C24D-CB5DF48AC9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84E336BB-D191-61CF-DD84-2AC0B1E77F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C20BCB7-1F6B-AB3F-4D72-72AA4B8739D1}"/>
              </a:ext>
            </a:extLst>
          </p:cNvPr>
          <p:cNvSpPr>
            <a:spLocks noGrp="1"/>
          </p:cNvSpPr>
          <p:nvPr>
            <p:ph type="dt" sz="half" idx="10"/>
          </p:nvPr>
        </p:nvSpPr>
        <p:spPr/>
        <p:txBody>
          <a:bodyPr/>
          <a:lstStyle/>
          <a:p>
            <a:fld id="{FAF1498D-6596-4318-B1B3-57BB075DBF5C}" type="datetimeFigureOut">
              <a:rPr lang="zh-CN" altLang="en-US" smtClean="0"/>
              <a:t>2026/8/14</a:t>
            </a:fld>
            <a:endParaRPr lang="zh-CN" altLang="en-US"/>
          </a:p>
        </p:txBody>
      </p:sp>
      <p:sp>
        <p:nvSpPr>
          <p:cNvPr id="6" name="页脚占位符 5">
            <a:extLst>
              <a:ext uri="{FF2B5EF4-FFF2-40B4-BE49-F238E27FC236}">
                <a16:creationId xmlns:a16="http://schemas.microsoft.com/office/drawing/2014/main" id="{5A62ACC7-D787-30E9-1F4D-88239E6A60E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D8E71CC-60B9-CE42-B984-B9172F4AEC71}"/>
              </a:ext>
            </a:extLst>
          </p:cNvPr>
          <p:cNvSpPr>
            <a:spLocks noGrp="1"/>
          </p:cNvSpPr>
          <p:nvPr>
            <p:ph type="sldNum" sz="quarter" idx="12"/>
          </p:nvPr>
        </p:nvSpPr>
        <p:spPr/>
        <p:txBody>
          <a:bodyPr/>
          <a:lstStyle/>
          <a:p>
            <a:fld id="{E10F70E1-56AE-462B-B653-4ADA3DCBCB5B}" type="slidenum">
              <a:rPr lang="zh-CN" altLang="en-US" smtClean="0"/>
              <a:t>‹#›</a:t>
            </a:fld>
            <a:endParaRPr lang="zh-CN" altLang="en-US"/>
          </a:p>
        </p:txBody>
      </p:sp>
    </p:spTree>
    <p:extLst>
      <p:ext uri="{BB962C8B-B14F-4D97-AF65-F5344CB8AC3E}">
        <p14:creationId xmlns:p14="http://schemas.microsoft.com/office/powerpoint/2010/main" val="29833587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D6BC54-71E4-4713-AFAE-70F26EB154FD}"/>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97DB230C-6654-5FD8-02BA-6394896522A3}"/>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A8C8CC3-4CBC-08CF-1FF4-57DF9B4BBF0F}"/>
              </a:ext>
            </a:extLst>
          </p:cNvPr>
          <p:cNvSpPr>
            <a:spLocks noGrp="1"/>
          </p:cNvSpPr>
          <p:nvPr>
            <p:ph type="dt" sz="half" idx="10"/>
          </p:nvPr>
        </p:nvSpPr>
        <p:spPr/>
        <p:txBody>
          <a:bodyPr/>
          <a:lstStyle/>
          <a:p>
            <a:fld id="{FAF1498D-6596-4318-B1B3-57BB075DBF5C}" type="datetimeFigureOut">
              <a:rPr lang="zh-CN" altLang="en-US" smtClean="0"/>
              <a:t>2026/8/14</a:t>
            </a:fld>
            <a:endParaRPr lang="zh-CN" altLang="en-US"/>
          </a:p>
        </p:txBody>
      </p:sp>
      <p:sp>
        <p:nvSpPr>
          <p:cNvPr id="5" name="页脚占位符 4">
            <a:extLst>
              <a:ext uri="{FF2B5EF4-FFF2-40B4-BE49-F238E27FC236}">
                <a16:creationId xmlns:a16="http://schemas.microsoft.com/office/drawing/2014/main" id="{0E289D39-D83B-5C08-0033-81ABF3467F6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9769AA4-285F-C165-5D59-0C60C8C6366C}"/>
              </a:ext>
            </a:extLst>
          </p:cNvPr>
          <p:cNvSpPr>
            <a:spLocks noGrp="1"/>
          </p:cNvSpPr>
          <p:nvPr>
            <p:ph type="sldNum" sz="quarter" idx="12"/>
          </p:nvPr>
        </p:nvSpPr>
        <p:spPr/>
        <p:txBody>
          <a:bodyPr/>
          <a:lstStyle/>
          <a:p>
            <a:fld id="{E10F70E1-56AE-462B-B653-4ADA3DCBCB5B}" type="slidenum">
              <a:rPr lang="zh-CN" altLang="en-US" smtClean="0"/>
              <a:t>‹#›</a:t>
            </a:fld>
            <a:endParaRPr lang="zh-CN" altLang="en-US"/>
          </a:p>
        </p:txBody>
      </p:sp>
    </p:spTree>
    <p:extLst>
      <p:ext uri="{BB962C8B-B14F-4D97-AF65-F5344CB8AC3E}">
        <p14:creationId xmlns:p14="http://schemas.microsoft.com/office/powerpoint/2010/main" val="14597957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53740A78-4ADF-33CE-8943-42CFE300735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7B4944F6-E7BA-7210-14E6-4D1FB2B89479}"/>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0235076-9FB8-558D-1971-17AB06646EBF}"/>
              </a:ext>
            </a:extLst>
          </p:cNvPr>
          <p:cNvSpPr>
            <a:spLocks noGrp="1"/>
          </p:cNvSpPr>
          <p:nvPr>
            <p:ph type="dt" sz="half" idx="10"/>
          </p:nvPr>
        </p:nvSpPr>
        <p:spPr/>
        <p:txBody>
          <a:bodyPr/>
          <a:lstStyle/>
          <a:p>
            <a:fld id="{FAF1498D-6596-4318-B1B3-57BB075DBF5C}" type="datetimeFigureOut">
              <a:rPr lang="zh-CN" altLang="en-US" smtClean="0"/>
              <a:t>2026/8/14</a:t>
            </a:fld>
            <a:endParaRPr lang="zh-CN" altLang="en-US"/>
          </a:p>
        </p:txBody>
      </p:sp>
      <p:sp>
        <p:nvSpPr>
          <p:cNvPr id="5" name="页脚占位符 4">
            <a:extLst>
              <a:ext uri="{FF2B5EF4-FFF2-40B4-BE49-F238E27FC236}">
                <a16:creationId xmlns:a16="http://schemas.microsoft.com/office/drawing/2014/main" id="{E1DE4358-C1E1-7F53-B50B-25937ABD536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B1E0B47-527E-678A-6AA4-852340E1F9BC}"/>
              </a:ext>
            </a:extLst>
          </p:cNvPr>
          <p:cNvSpPr>
            <a:spLocks noGrp="1"/>
          </p:cNvSpPr>
          <p:nvPr>
            <p:ph type="sldNum" sz="quarter" idx="12"/>
          </p:nvPr>
        </p:nvSpPr>
        <p:spPr/>
        <p:txBody>
          <a:bodyPr/>
          <a:lstStyle/>
          <a:p>
            <a:fld id="{E10F70E1-56AE-462B-B653-4ADA3DCBCB5B}" type="slidenum">
              <a:rPr lang="zh-CN" altLang="en-US" smtClean="0"/>
              <a:t>‹#›</a:t>
            </a:fld>
            <a:endParaRPr lang="zh-CN" altLang="en-US"/>
          </a:p>
        </p:txBody>
      </p:sp>
    </p:spTree>
    <p:extLst>
      <p:ext uri="{BB962C8B-B14F-4D97-AF65-F5344CB8AC3E}">
        <p14:creationId xmlns:p14="http://schemas.microsoft.com/office/powerpoint/2010/main" val="147784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654D85AD-9BDE-FE7F-6123-5E4CBA6179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6A4988D3-1B69-DC4C-DB64-9EEDDDC12E0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BB6D170-B954-220A-06DE-BFD66CA636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AF1498D-6596-4318-B1B3-57BB075DBF5C}" type="datetimeFigureOut">
              <a:rPr lang="zh-CN" altLang="en-US" smtClean="0"/>
              <a:t>2026/8/14</a:t>
            </a:fld>
            <a:endParaRPr lang="zh-CN" altLang="en-US"/>
          </a:p>
        </p:txBody>
      </p:sp>
      <p:sp>
        <p:nvSpPr>
          <p:cNvPr id="5" name="页脚占位符 4">
            <a:extLst>
              <a:ext uri="{FF2B5EF4-FFF2-40B4-BE49-F238E27FC236}">
                <a16:creationId xmlns:a16="http://schemas.microsoft.com/office/drawing/2014/main" id="{4A3AA342-335B-E412-366B-31D5CD293F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CE75C405-EC60-37D8-4C59-0B99DF1356F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10F70E1-56AE-462B-B653-4ADA3DCBCB5B}" type="slidenum">
              <a:rPr lang="zh-CN" altLang="en-US" smtClean="0"/>
              <a:t>‹#›</a:t>
            </a:fld>
            <a:endParaRPr lang="zh-CN" altLang="en-US"/>
          </a:p>
        </p:txBody>
      </p:sp>
    </p:spTree>
    <p:extLst>
      <p:ext uri="{BB962C8B-B14F-4D97-AF65-F5344CB8AC3E}">
        <p14:creationId xmlns:p14="http://schemas.microsoft.com/office/powerpoint/2010/main" val="36679450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3.png"/><Relationship Id="rId7"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EB312A52-8B50-E55F-4653-3D224D6F120A}"/>
              </a:ext>
            </a:extLst>
          </p:cNvPr>
          <p:cNvSpPr txBox="1"/>
          <p:nvPr/>
        </p:nvSpPr>
        <p:spPr>
          <a:xfrm>
            <a:off x="58852" y="2477866"/>
            <a:ext cx="1542629" cy="923330"/>
          </a:xfrm>
          <a:prstGeom prst="rect">
            <a:avLst/>
          </a:prstGeom>
          <a:noFill/>
        </p:spPr>
        <p:txBody>
          <a:bodyPr wrap="square" rtlCol="0">
            <a:spAutoFit/>
          </a:bodyPr>
          <a:lstStyle/>
          <a:p>
            <a:pPr algn="ctr"/>
            <a:r>
              <a:rPr lang="zh-CN" altLang="en-US" dirty="0"/>
              <a:t>传感器历史数据</a:t>
            </a:r>
            <a:endParaRPr lang="en-US" altLang="zh-CN" dirty="0"/>
          </a:p>
          <a:p>
            <a:pPr algn="ctr"/>
            <a:r>
              <a:rPr lang="zh-CN" altLang="en-US" dirty="0"/>
              <a:t>力</a:t>
            </a:r>
            <a:r>
              <a:rPr lang="en-US" altLang="zh-CN" dirty="0"/>
              <a:t>/</a:t>
            </a:r>
            <a:r>
              <a:rPr lang="zh-CN" altLang="en-US" dirty="0"/>
              <a:t>振动</a:t>
            </a:r>
            <a:r>
              <a:rPr lang="en-US" altLang="zh-CN" dirty="0"/>
              <a:t>/AE</a:t>
            </a:r>
            <a:r>
              <a:rPr lang="zh-CN" altLang="en-US" dirty="0"/>
              <a:t>等</a:t>
            </a:r>
            <a:endParaRPr lang="en-US" altLang="zh-CN" dirty="0"/>
          </a:p>
        </p:txBody>
      </p:sp>
      <p:sp>
        <p:nvSpPr>
          <p:cNvPr id="5" name="矩形 4">
            <a:extLst>
              <a:ext uri="{FF2B5EF4-FFF2-40B4-BE49-F238E27FC236}">
                <a16:creationId xmlns:a16="http://schemas.microsoft.com/office/drawing/2014/main" id="{5C34AFAB-253C-3C09-71A1-B8C788A354F1}"/>
              </a:ext>
            </a:extLst>
          </p:cNvPr>
          <p:cNvSpPr/>
          <p:nvPr/>
        </p:nvSpPr>
        <p:spPr>
          <a:xfrm>
            <a:off x="2310658" y="2415852"/>
            <a:ext cx="1405353" cy="83462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TCN</a:t>
            </a:r>
            <a:endParaRPr lang="zh-CN" altLang="en-US" dirty="0">
              <a:solidFill>
                <a:schemeClr val="tx1"/>
              </a:solidFill>
            </a:endParaRPr>
          </a:p>
        </p:txBody>
      </p:sp>
      <p:sp>
        <p:nvSpPr>
          <p:cNvPr id="6" name="文本框 5">
            <a:extLst>
              <a:ext uri="{FF2B5EF4-FFF2-40B4-BE49-F238E27FC236}">
                <a16:creationId xmlns:a16="http://schemas.microsoft.com/office/drawing/2014/main" id="{E1BEE984-AE2B-EB97-8BA3-6AA6BCF5F447}"/>
              </a:ext>
            </a:extLst>
          </p:cNvPr>
          <p:cNvSpPr txBox="1"/>
          <p:nvPr/>
        </p:nvSpPr>
        <p:spPr>
          <a:xfrm>
            <a:off x="1957675" y="3378507"/>
            <a:ext cx="2111317" cy="1077218"/>
          </a:xfrm>
          <a:prstGeom prst="rect">
            <a:avLst/>
          </a:prstGeom>
          <a:noFill/>
        </p:spPr>
        <p:txBody>
          <a:bodyPr wrap="square" rtlCol="0">
            <a:spAutoFit/>
          </a:bodyPr>
          <a:lstStyle/>
          <a:p>
            <a:pPr algn="ctr"/>
            <a:r>
              <a:rPr lang="zh-CN" altLang="en-US" sz="1600" b="1" dirty="0">
                <a:latin typeface="宋体" panose="02010600030101010101" pitchFamily="2" charset="-122"/>
                <a:ea typeface="宋体" panose="02010600030101010101" pitchFamily="2" charset="-122"/>
              </a:rPr>
              <a:t>时序卷积网络</a:t>
            </a:r>
            <a:endParaRPr lang="en-US" altLang="zh-CN" sz="1600" b="1" dirty="0">
              <a:latin typeface="宋体" panose="02010600030101010101" pitchFamily="2" charset="-122"/>
              <a:ea typeface="宋体" panose="02010600030101010101" pitchFamily="2" charset="-122"/>
            </a:endParaRPr>
          </a:p>
          <a:p>
            <a:pPr algn="ctr"/>
            <a:r>
              <a:rPr lang="zh-CN" altLang="en-US" sz="1600" dirty="0">
                <a:latin typeface="宋体" panose="02010600030101010101" pitchFamily="2" charset="-122"/>
                <a:ea typeface="宋体" panose="02010600030101010101" pitchFamily="2" charset="-122"/>
              </a:rPr>
              <a:t>用一维卷积沿着时间轴提取特征的</a:t>
            </a:r>
            <a:r>
              <a:rPr lang="en-US" altLang="zh-CN" sz="1600" dirty="0">
                <a:latin typeface="宋体" panose="02010600030101010101" pitchFamily="2" charset="-122"/>
                <a:ea typeface="宋体" panose="02010600030101010101" pitchFamily="2" charset="-122"/>
              </a:rPr>
              <a:t>CNN</a:t>
            </a:r>
            <a:r>
              <a:rPr lang="zh-CN" altLang="en-US" sz="1600" dirty="0">
                <a:latin typeface="宋体" panose="02010600030101010101" pitchFamily="2" charset="-122"/>
                <a:ea typeface="宋体" panose="02010600030101010101" pitchFamily="2" charset="-122"/>
              </a:rPr>
              <a:t>网络</a:t>
            </a:r>
          </a:p>
        </p:txBody>
      </p:sp>
      <p:sp>
        <p:nvSpPr>
          <p:cNvPr id="7" name="矩形 6">
            <a:extLst>
              <a:ext uri="{FF2B5EF4-FFF2-40B4-BE49-F238E27FC236}">
                <a16:creationId xmlns:a16="http://schemas.microsoft.com/office/drawing/2014/main" id="{CEF477BA-2BBB-1B88-327A-604765421482}"/>
              </a:ext>
            </a:extLst>
          </p:cNvPr>
          <p:cNvSpPr/>
          <p:nvPr/>
        </p:nvSpPr>
        <p:spPr>
          <a:xfrm>
            <a:off x="4453223" y="2403904"/>
            <a:ext cx="1405353" cy="83462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GRU</a:t>
            </a:r>
            <a:endParaRPr lang="zh-CN" altLang="en-US" dirty="0">
              <a:solidFill>
                <a:schemeClr val="tx1"/>
              </a:solidFill>
            </a:endParaRPr>
          </a:p>
        </p:txBody>
      </p:sp>
      <p:sp>
        <p:nvSpPr>
          <p:cNvPr id="8" name="文本框 7">
            <a:extLst>
              <a:ext uri="{FF2B5EF4-FFF2-40B4-BE49-F238E27FC236}">
                <a16:creationId xmlns:a16="http://schemas.microsoft.com/office/drawing/2014/main" id="{6F055612-72DB-57A4-2BE6-29E7DDA71FCD}"/>
              </a:ext>
            </a:extLst>
          </p:cNvPr>
          <p:cNvSpPr txBox="1"/>
          <p:nvPr/>
        </p:nvSpPr>
        <p:spPr>
          <a:xfrm>
            <a:off x="4216331" y="3366559"/>
            <a:ext cx="1879135" cy="1077218"/>
          </a:xfrm>
          <a:prstGeom prst="rect">
            <a:avLst/>
          </a:prstGeom>
          <a:noFill/>
        </p:spPr>
        <p:txBody>
          <a:bodyPr wrap="square" rtlCol="0">
            <a:spAutoFit/>
          </a:bodyPr>
          <a:lstStyle/>
          <a:p>
            <a:pPr algn="ctr"/>
            <a:r>
              <a:rPr lang="zh-CN" altLang="en-US" sz="1600" b="1" dirty="0">
                <a:latin typeface="宋体" panose="02010600030101010101" pitchFamily="2" charset="-122"/>
                <a:ea typeface="宋体" panose="02010600030101010101" pitchFamily="2" charset="-122"/>
              </a:rPr>
              <a:t>门控循环单元</a:t>
            </a:r>
            <a:endParaRPr lang="en-US" altLang="zh-CN" sz="1600" b="1" dirty="0">
              <a:latin typeface="宋体" panose="02010600030101010101" pitchFamily="2" charset="-122"/>
              <a:ea typeface="宋体" panose="02010600030101010101" pitchFamily="2" charset="-122"/>
            </a:endParaRPr>
          </a:p>
          <a:p>
            <a:pPr algn="ctr"/>
            <a:r>
              <a:rPr lang="zh-CN" altLang="en-US" sz="1600" dirty="0">
                <a:latin typeface="宋体" panose="02010600030101010101" pitchFamily="2" charset="-122"/>
                <a:ea typeface="宋体" panose="02010600030101010101" pitchFamily="2" charset="-122"/>
              </a:rPr>
              <a:t>用于提取序列数据中因果关系的一种</a:t>
            </a:r>
            <a:r>
              <a:rPr lang="en-US" altLang="zh-CN" sz="1600" dirty="0">
                <a:latin typeface="宋体" panose="02010600030101010101" pitchFamily="2" charset="-122"/>
                <a:ea typeface="宋体" panose="02010600030101010101" pitchFamily="2" charset="-122"/>
              </a:rPr>
              <a:t>RNN</a:t>
            </a:r>
            <a:r>
              <a:rPr lang="zh-CN" altLang="en-US" sz="1600" dirty="0">
                <a:latin typeface="宋体" panose="02010600030101010101" pitchFamily="2" charset="-122"/>
                <a:ea typeface="宋体" panose="02010600030101010101" pitchFamily="2" charset="-122"/>
              </a:rPr>
              <a:t>网络改进结构</a:t>
            </a:r>
          </a:p>
        </p:txBody>
      </p:sp>
      <p:sp>
        <p:nvSpPr>
          <p:cNvPr id="9" name="箭头: 右 8">
            <a:extLst>
              <a:ext uri="{FF2B5EF4-FFF2-40B4-BE49-F238E27FC236}">
                <a16:creationId xmlns:a16="http://schemas.microsoft.com/office/drawing/2014/main" id="{72D56B3F-6941-A785-873F-CD8A8481B1E7}"/>
              </a:ext>
            </a:extLst>
          </p:cNvPr>
          <p:cNvSpPr/>
          <p:nvPr/>
        </p:nvSpPr>
        <p:spPr>
          <a:xfrm>
            <a:off x="1577094" y="2604814"/>
            <a:ext cx="392762" cy="460268"/>
          </a:xfrm>
          <a:prstGeom prst="right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箭头: 右 9">
            <a:extLst>
              <a:ext uri="{FF2B5EF4-FFF2-40B4-BE49-F238E27FC236}">
                <a16:creationId xmlns:a16="http://schemas.microsoft.com/office/drawing/2014/main" id="{17481616-0625-8CB2-4522-FD5651F6B01B}"/>
              </a:ext>
            </a:extLst>
          </p:cNvPr>
          <p:cNvSpPr/>
          <p:nvPr/>
        </p:nvSpPr>
        <p:spPr>
          <a:xfrm>
            <a:off x="3888649" y="2624088"/>
            <a:ext cx="382642" cy="460268"/>
          </a:xfrm>
          <a:prstGeom prst="right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18038880-A37D-F1E3-4BBF-F6D06281B74F}"/>
              </a:ext>
            </a:extLst>
          </p:cNvPr>
          <p:cNvSpPr txBox="1"/>
          <p:nvPr/>
        </p:nvSpPr>
        <p:spPr>
          <a:xfrm>
            <a:off x="4600562" y="1942239"/>
            <a:ext cx="1110671" cy="461665"/>
          </a:xfrm>
          <a:prstGeom prst="rect">
            <a:avLst/>
          </a:prstGeom>
          <a:noFill/>
        </p:spPr>
        <p:txBody>
          <a:bodyPr wrap="square" rtlCol="0">
            <a:spAutoFit/>
          </a:bodyPr>
          <a:lstStyle/>
          <a:p>
            <a:pPr algn="ctr"/>
            <a:r>
              <a:rPr lang="zh-CN" altLang="en-US" sz="1200" dirty="0">
                <a:latin typeface="宋体" panose="02010600030101010101" pitchFamily="2" charset="-122"/>
                <a:ea typeface="宋体" panose="02010600030101010101" pitchFamily="2" charset="-122"/>
              </a:rPr>
              <a:t>提取局部时间模式特征</a:t>
            </a:r>
          </a:p>
        </p:txBody>
      </p:sp>
      <p:sp>
        <p:nvSpPr>
          <p:cNvPr id="12" name="文本框 11">
            <a:extLst>
              <a:ext uri="{FF2B5EF4-FFF2-40B4-BE49-F238E27FC236}">
                <a16:creationId xmlns:a16="http://schemas.microsoft.com/office/drawing/2014/main" id="{FE196AC6-D7A6-C7C3-7095-8F61AE4ECCD9}"/>
              </a:ext>
            </a:extLst>
          </p:cNvPr>
          <p:cNvSpPr txBox="1"/>
          <p:nvPr/>
        </p:nvSpPr>
        <p:spPr>
          <a:xfrm>
            <a:off x="2457997" y="1954186"/>
            <a:ext cx="1110671" cy="461665"/>
          </a:xfrm>
          <a:prstGeom prst="rect">
            <a:avLst/>
          </a:prstGeom>
          <a:noFill/>
        </p:spPr>
        <p:txBody>
          <a:bodyPr wrap="square" rtlCol="0">
            <a:spAutoFit/>
          </a:bodyPr>
          <a:lstStyle/>
          <a:p>
            <a:pPr algn="ctr"/>
            <a:r>
              <a:rPr lang="zh-CN" altLang="en-US" sz="1200" dirty="0">
                <a:latin typeface="宋体" panose="02010600030101010101" pitchFamily="2" charset="-122"/>
                <a:ea typeface="宋体" panose="02010600030101010101" pitchFamily="2" charset="-122"/>
              </a:rPr>
              <a:t>整合前后时间关系</a:t>
            </a:r>
          </a:p>
        </p:txBody>
      </p:sp>
      <p:sp>
        <p:nvSpPr>
          <p:cNvPr id="14" name="文本框 13">
            <a:extLst>
              <a:ext uri="{FF2B5EF4-FFF2-40B4-BE49-F238E27FC236}">
                <a16:creationId xmlns:a16="http://schemas.microsoft.com/office/drawing/2014/main" id="{2D4663E2-70D8-548A-BFA6-1B64B50CDD5A}"/>
              </a:ext>
            </a:extLst>
          </p:cNvPr>
          <p:cNvSpPr txBox="1"/>
          <p:nvPr/>
        </p:nvSpPr>
        <p:spPr>
          <a:xfrm>
            <a:off x="5858572" y="2346513"/>
            <a:ext cx="916144" cy="461665"/>
          </a:xfrm>
          <a:prstGeom prst="rect">
            <a:avLst/>
          </a:prstGeom>
          <a:noFill/>
        </p:spPr>
        <p:txBody>
          <a:bodyPr wrap="square" rtlCol="0">
            <a:spAutoFit/>
          </a:bodyPr>
          <a:lstStyle/>
          <a:p>
            <a:pPr algn="ctr"/>
            <a:r>
              <a:rPr lang="zh-CN" altLang="en-US" sz="1200" b="1" dirty="0">
                <a:latin typeface="宋体" panose="02010600030101010101" pitchFamily="2" charset="-122"/>
                <a:ea typeface="宋体" panose="02010600030101010101" pitchFamily="2" charset="-122"/>
              </a:rPr>
              <a:t>时序特征向量</a:t>
            </a:r>
          </a:p>
        </p:txBody>
      </p:sp>
      <p:sp>
        <p:nvSpPr>
          <p:cNvPr id="15" name="矩形 14">
            <a:extLst>
              <a:ext uri="{FF2B5EF4-FFF2-40B4-BE49-F238E27FC236}">
                <a16:creationId xmlns:a16="http://schemas.microsoft.com/office/drawing/2014/main" id="{48A6BB0B-FA22-52F3-9134-6D22BBC2C1D1}"/>
              </a:ext>
            </a:extLst>
          </p:cNvPr>
          <p:cNvSpPr/>
          <p:nvPr/>
        </p:nvSpPr>
        <p:spPr>
          <a:xfrm>
            <a:off x="7051313" y="1810251"/>
            <a:ext cx="1405353" cy="51968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输出头</a:t>
            </a:r>
            <a:endParaRPr lang="en-US" altLang="zh-CN" sz="1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algn="ctr"/>
            <a:r>
              <a:rPr lang="en-US" altLang="zh-CN" sz="1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head1</a:t>
            </a:r>
            <a:endParaRPr lang="zh-CN" altLang="en-US" sz="1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 name="矩形 15">
            <a:extLst>
              <a:ext uri="{FF2B5EF4-FFF2-40B4-BE49-F238E27FC236}">
                <a16:creationId xmlns:a16="http://schemas.microsoft.com/office/drawing/2014/main" id="{4985363A-E9CC-F7C4-9132-6002A44D179C}"/>
              </a:ext>
            </a:extLst>
          </p:cNvPr>
          <p:cNvSpPr/>
          <p:nvPr/>
        </p:nvSpPr>
        <p:spPr>
          <a:xfrm>
            <a:off x="7072479" y="2564793"/>
            <a:ext cx="1405353" cy="51968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输出头</a:t>
            </a:r>
            <a:endParaRPr lang="en-US" altLang="zh-CN" sz="1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algn="ctr"/>
            <a:r>
              <a:rPr lang="en-US" altLang="zh-CN" sz="1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head2</a:t>
            </a:r>
            <a:endParaRPr lang="zh-CN" altLang="en-US" sz="1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 name="矩形 16">
            <a:extLst>
              <a:ext uri="{FF2B5EF4-FFF2-40B4-BE49-F238E27FC236}">
                <a16:creationId xmlns:a16="http://schemas.microsoft.com/office/drawing/2014/main" id="{9C12A4B2-E931-8C41-110B-4159D5A5F98D}"/>
              </a:ext>
            </a:extLst>
          </p:cNvPr>
          <p:cNvSpPr/>
          <p:nvPr/>
        </p:nvSpPr>
        <p:spPr>
          <a:xfrm>
            <a:off x="7072479" y="3319335"/>
            <a:ext cx="1405353" cy="51968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输出头</a:t>
            </a:r>
            <a:endParaRPr lang="en-US" altLang="zh-CN" sz="1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algn="ctr"/>
            <a:r>
              <a:rPr lang="en-US" altLang="zh-CN" sz="1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head3</a:t>
            </a:r>
            <a:endParaRPr lang="zh-CN" altLang="en-US" sz="1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20" name="连接符: 肘形 19">
            <a:extLst>
              <a:ext uri="{FF2B5EF4-FFF2-40B4-BE49-F238E27FC236}">
                <a16:creationId xmlns:a16="http://schemas.microsoft.com/office/drawing/2014/main" id="{03EFD1D3-202F-E632-B849-12191A0E52CD}"/>
              </a:ext>
            </a:extLst>
          </p:cNvPr>
          <p:cNvCxnSpPr>
            <a:stCxn id="7" idx="3"/>
            <a:endCxn id="15" idx="1"/>
          </p:cNvCxnSpPr>
          <p:nvPr/>
        </p:nvCxnSpPr>
        <p:spPr>
          <a:xfrm flipV="1">
            <a:off x="5858576" y="2070093"/>
            <a:ext cx="1192737" cy="751121"/>
          </a:xfrm>
          <a:prstGeom prst="bentConnector3">
            <a:avLst>
              <a:gd name="adj1" fmla="val 7624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2" name="连接符: 肘形 21">
            <a:extLst>
              <a:ext uri="{FF2B5EF4-FFF2-40B4-BE49-F238E27FC236}">
                <a16:creationId xmlns:a16="http://schemas.microsoft.com/office/drawing/2014/main" id="{31A29634-155A-E73E-EF55-FFD874CD289D}"/>
              </a:ext>
            </a:extLst>
          </p:cNvPr>
          <p:cNvCxnSpPr>
            <a:cxnSpLocks/>
            <a:stCxn id="7" idx="3"/>
            <a:endCxn id="16" idx="1"/>
          </p:cNvCxnSpPr>
          <p:nvPr/>
        </p:nvCxnSpPr>
        <p:spPr>
          <a:xfrm>
            <a:off x="5858576" y="2821214"/>
            <a:ext cx="1213903" cy="0"/>
          </a:xfrm>
          <a:prstGeom prst="bentConnector3">
            <a:avLst>
              <a:gd name="adj1" fmla="val 50000"/>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7" name="连接符: 肘形 26">
            <a:extLst>
              <a:ext uri="{FF2B5EF4-FFF2-40B4-BE49-F238E27FC236}">
                <a16:creationId xmlns:a16="http://schemas.microsoft.com/office/drawing/2014/main" id="{A9030151-14DF-3172-CE9C-3B596A4C9B05}"/>
              </a:ext>
            </a:extLst>
          </p:cNvPr>
          <p:cNvCxnSpPr>
            <a:cxnSpLocks/>
            <a:stCxn id="7" idx="3"/>
            <a:endCxn id="17" idx="1"/>
          </p:cNvCxnSpPr>
          <p:nvPr/>
        </p:nvCxnSpPr>
        <p:spPr>
          <a:xfrm>
            <a:off x="5858576" y="2821214"/>
            <a:ext cx="1213903" cy="757963"/>
          </a:xfrm>
          <a:prstGeom prst="bentConnector3">
            <a:avLst>
              <a:gd name="adj1" fmla="val 74772"/>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4" name="文本框 33">
            <a:extLst>
              <a:ext uri="{FF2B5EF4-FFF2-40B4-BE49-F238E27FC236}">
                <a16:creationId xmlns:a16="http://schemas.microsoft.com/office/drawing/2014/main" id="{F440F416-A6F0-0640-66A9-2F4152403C2C}"/>
              </a:ext>
            </a:extLst>
          </p:cNvPr>
          <p:cNvSpPr txBox="1"/>
          <p:nvPr/>
        </p:nvSpPr>
        <p:spPr>
          <a:xfrm>
            <a:off x="9158986" y="1784595"/>
            <a:ext cx="1961568" cy="584775"/>
          </a:xfrm>
          <a:prstGeom prst="rect">
            <a:avLst/>
          </a:prstGeom>
          <a:noFill/>
        </p:spPr>
        <p:txBody>
          <a:bodyPr wrap="square" rtlCol="0">
            <a:spAutoFit/>
          </a:bodyPr>
          <a:lstStyle/>
          <a:p>
            <a:r>
              <a:rPr lang="zh-CN" altLang="en-US" sz="1600" dirty="0">
                <a:latin typeface="宋体" panose="02010600030101010101" pitchFamily="2" charset="-122"/>
                <a:ea typeface="宋体" panose="02010600030101010101" pitchFamily="2" charset="-122"/>
              </a:rPr>
              <a:t>输出对早中晚三个阶段的</a:t>
            </a:r>
            <a:r>
              <a:rPr lang="zh-CN" altLang="en-US" sz="1600" dirty="0">
                <a:solidFill>
                  <a:srgbClr val="FF0000"/>
                </a:solidFill>
                <a:latin typeface="宋体" panose="02010600030101010101" pitchFamily="2" charset="-122"/>
                <a:ea typeface="宋体" panose="02010600030101010101" pitchFamily="2" charset="-122"/>
              </a:rPr>
              <a:t>分类</a:t>
            </a:r>
            <a:r>
              <a:rPr lang="zh-CN" altLang="en-US" sz="1600" dirty="0">
                <a:latin typeface="宋体" panose="02010600030101010101" pitchFamily="2" charset="-122"/>
                <a:ea typeface="宋体" panose="02010600030101010101" pitchFamily="2" charset="-122"/>
              </a:rPr>
              <a:t>概率</a:t>
            </a:r>
          </a:p>
        </p:txBody>
      </p:sp>
      <p:sp>
        <p:nvSpPr>
          <p:cNvPr id="35" name="文本框 34">
            <a:extLst>
              <a:ext uri="{FF2B5EF4-FFF2-40B4-BE49-F238E27FC236}">
                <a16:creationId xmlns:a16="http://schemas.microsoft.com/office/drawing/2014/main" id="{1248AAD3-6184-4867-61D1-213193856BC4}"/>
              </a:ext>
            </a:extLst>
          </p:cNvPr>
          <p:cNvSpPr txBox="1"/>
          <p:nvPr/>
        </p:nvSpPr>
        <p:spPr>
          <a:xfrm>
            <a:off x="9158985" y="2471180"/>
            <a:ext cx="1854747" cy="584775"/>
          </a:xfrm>
          <a:prstGeom prst="rect">
            <a:avLst/>
          </a:prstGeom>
          <a:noFill/>
        </p:spPr>
        <p:txBody>
          <a:bodyPr wrap="square" rtlCol="0">
            <a:spAutoFit/>
          </a:bodyPr>
          <a:lstStyle/>
          <a:p>
            <a:r>
              <a:rPr lang="zh-CN" altLang="en-US" sz="1600" dirty="0">
                <a:latin typeface="宋体" panose="02010600030101010101" pitchFamily="2" charset="-122"/>
                <a:ea typeface="宋体" panose="02010600030101010101" pitchFamily="2" charset="-122"/>
              </a:rPr>
              <a:t>输出</a:t>
            </a:r>
            <a:r>
              <a:rPr lang="en-US" altLang="zh-CN" sz="1600" dirty="0">
                <a:latin typeface="宋体" panose="02010600030101010101" pitchFamily="2" charset="-122"/>
                <a:ea typeface="宋体" panose="02010600030101010101" pitchFamily="2" charset="-122"/>
              </a:rPr>
              <a:t>5</a:t>
            </a:r>
            <a:r>
              <a:rPr lang="zh-CN" altLang="en-US" sz="1600" dirty="0">
                <a:latin typeface="宋体" panose="02010600030101010101" pitchFamily="2" charset="-122"/>
                <a:ea typeface="宋体" panose="02010600030101010101" pitchFamily="2" charset="-122"/>
              </a:rPr>
              <a:t>个细化阶段的</a:t>
            </a:r>
            <a:r>
              <a:rPr lang="zh-CN" altLang="en-US" sz="1600" dirty="0">
                <a:solidFill>
                  <a:srgbClr val="FF0000"/>
                </a:solidFill>
                <a:latin typeface="宋体" panose="02010600030101010101" pitchFamily="2" charset="-122"/>
                <a:ea typeface="宋体" panose="02010600030101010101" pitchFamily="2" charset="-122"/>
              </a:rPr>
              <a:t>分类</a:t>
            </a:r>
            <a:r>
              <a:rPr lang="zh-CN" altLang="en-US" sz="1600" dirty="0">
                <a:latin typeface="宋体" panose="02010600030101010101" pitchFamily="2" charset="-122"/>
                <a:ea typeface="宋体" panose="02010600030101010101" pitchFamily="2" charset="-122"/>
              </a:rPr>
              <a:t>概率</a:t>
            </a:r>
          </a:p>
        </p:txBody>
      </p:sp>
      <p:sp>
        <p:nvSpPr>
          <p:cNvPr id="36" name="文本框 35">
            <a:extLst>
              <a:ext uri="{FF2B5EF4-FFF2-40B4-BE49-F238E27FC236}">
                <a16:creationId xmlns:a16="http://schemas.microsoft.com/office/drawing/2014/main" id="{DEB48510-0F7A-FC6E-2C12-AB52DD144074}"/>
              </a:ext>
            </a:extLst>
          </p:cNvPr>
          <p:cNvSpPr txBox="1"/>
          <p:nvPr/>
        </p:nvSpPr>
        <p:spPr>
          <a:xfrm>
            <a:off x="9175975" y="3286788"/>
            <a:ext cx="1559758" cy="584775"/>
          </a:xfrm>
          <a:prstGeom prst="rect">
            <a:avLst/>
          </a:prstGeom>
          <a:noFill/>
        </p:spPr>
        <p:txBody>
          <a:bodyPr wrap="square" rtlCol="0">
            <a:spAutoFit/>
          </a:bodyPr>
          <a:lstStyle/>
          <a:p>
            <a:r>
              <a:rPr lang="zh-CN" altLang="en-US" sz="1600" dirty="0">
                <a:solidFill>
                  <a:srgbClr val="FF0000"/>
                </a:solidFill>
                <a:latin typeface="宋体" panose="02010600030101010101" pitchFamily="2" charset="-122"/>
                <a:ea typeface="宋体" panose="02010600030101010101" pitchFamily="2" charset="-122"/>
              </a:rPr>
              <a:t>回归</a:t>
            </a:r>
            <a:r>
              <a:rPr lang="zh-CN" altLang="en-US" sz="1600" dirty="0">
                <a:latin typeface="宋体" panose="02010600030101010101" pitchFamily="2" charset="-122"/>
                <a:ea typeface="宋体" panose="02010600030101010101" pitchFamily="2" charset="-122"/>
              </a:rPr>
              <a:t>产生相对退化位置</a:t>
            </a:r>
          </a:p>
        </p:txBody>
      </p:sp>
      <p:pic>
        <p:nvPicPr>
          <p:cNvPr id="37" name="图片 36">
            <a:extLst>
              <a:ext uri="{FF2B5EF4-FFF2-40B4-BE49-F238E27FC236}">
                <a16:creationId xmlns:a16="http://schemas.microsoft.com/office/drawing/2014/main" id="{434C232E-03B7-BEC9-C955-E29E9A48E5B2}"/>
              </a:ext>
            </a:extLst>
          </p:cNvPr>
          <p:cNvPicPr>
            <a:picLocks noChangeAspect="1"/>
          </p:cNvPicPr>
          <p:nvPr/>
        </p:nvPicPr>
        <p:blipFill>
          <a:blip r:embed="rId2"/>
          <a:srcRect r="25994"/>
          <a:stretch>
            <a:fillRect/>
          </a:stretch>
        </p:blipFill>
        <p:spPr>
          <a:xfrm>
            <a:off x="10139770" y="3579175"/>
            <a:ext cx="140989" cy="279414"/>
          </a:xfrm>
          <a:prstGeom prst="rect">
            <a:avLst/>
          </a:prstGeom>
        </p:spPr>
      </p:pic>
      <p:sp>
        <p:nvSpPr>
          <p:cNvPr id="38" name="文本框 37">
            <a:extLst>
              <a:ext uri="{FF2B5EF4-FFF2-40B4-BE49-F238E27FC236}">
                <a16:creationId xmlns:a16="http://schemas.microsoft.com/office/drawing/2014/main" id="{0BD098E1-7E6D-2163-BE87-ED13720B3881}"/>
              </a:ext>
            </a:extLst>
          </p:cNvPr>
          <p:cNvSpPr txBox="1"/>
          <p:nvPr/>
        </p:nvSpPr>
        <p:spPr>
          <a:xfrm>
            <a:off x="5858572" y="2834250"/>
            <a:ext cx="916144" cy="461665"/>
          </a:xfrm>
          <a:prstGeom prst="rect">
            <a:avLst/>
          </a:prstGeom>
          <a:noFill/>
        </p:spPr>
        <p:txBody>
          <a:bodyPr wrap="square" rtlCol="0">
            <a:spAutoFit/>
          </a:bodyPr>
          <a:lstStyle/>
          <a:p>
            <a:pPr algn="ctr"/>
            <a:r>
              <a:rPr lang="en-US" altLang="zh-CN" sz="1200" b="1" dirty="0">
                <a:latin typeface="宋体" panose="02010600030101010101" pitchFamily="2" charset="-122"/>
                <a:ea typeface="宋体" panose="02010600030101010101" pitchFamily="2" charset="-122"/>
              </a:rPr>
              <a:t>64</a:t>
            </a:r>
            <a:r>
              <a:rPr lang="zh-CN" altLang="en-US" sz="1200" b="1" dirty="0">
                <a:latin typeface="宋体" panose="02010600030101010101" pitchFamily="2" charset="-122"/>
                <a:ea typeface="宋体" panose="02010600030101010101" pitchFamily="2" charset="-122"/>
              </a:rPr>
              <a:t>维隐式特征</a:t>
            </a:r>
            <a:r>
              <a:rPr lang="en-US" altLang="zh-CN" sz="1200" b="1" dirty="0">
                <a:latin typeface="宋体" panose="02010600030101010101" pitchFamily="2" charset="-122"/>
                <a:ea typeface="宋体" panose="02010600030101010101" pitchFamily="2" charset="-122"/>
              </a:rPr>
              <a:t>h</a:t>
            </a:r>
            <a:endParaRPr lang="zh-CN" altLang="en-US" sz="1200" b="1" dirty="0">
              <a:latin typeface="宋体" panose="02010600030101010101" pitchFamily="2" charset="-122"/>
              <a:ea typeface="宋体" panose="02010600030101010101" pitchFamily="2" charset="-122"/>
            </a:endParaRPr>
          </a:p>
        </p:txBody>
      </p:sp>
      <p:sp>
        <p:nvSpPr>
          <p:cNvPr id="40" name="文本框 39">
            <a:extLst>
              <a:ext uri="{FF2B5EF4-FFF2-40B4-BE49-F238E27FC236}">
                <a16:creationId xmlns:a16="http://schemas.microsoft.com/office/drawing/2014/main" id="{6AA6E696-340E-2215-C2D7-20249413FF84}"/>
              </a:ext>
            </a:extLst>
          </p:cNvPr>
          <p:cNvSpPr txBox="1"/>
          <p:nvPr/>
        </p:nvSpPr>
        <p:spPr>
          <a:xfrm>
            <a:off x="2044818" y="4406123"/>
            <a:ext cx="2111317" cy="954107"/>
          </a:xfrm>
          <a:prstGeom prst="rect">
            <a:avLst/>
          </a:prstGeom>
          <a:noFill/>
        </p:spPr>
        <p:txBody>
          <a:bodyPr wrap="square">
            <a:spAutoFit/>
          </a:bodyPr>
          <a:lstStyle/>
          <a:p>
            <a:pPr algn="ctr"/>
            <a:r>
              <a:rPr lang="zh-CN" altLang="en-US" sz="1400" dirty="0">
                <a:latin typeface="宋体" panose="02010600030101010101" pitchFamily="2" charset="-122"/>
                <a:ea typeface="宋体" panose="02010600030101010101" pitchFamily="2" charset="-122"/>
              </a:rPr>
              <a:t>提取例如：</a:t>
            </a:r>
            <a:endParaRPr lang="en-US" altLang="zh-CN" sz="1400" dirty="0">
              <a:latin typeface="宋体" panose="02010600030101010101" pitchFamily="2" charset="-122"/>
              <a:ea typeface="宋体" panose="02010600030101010101" pitchFamily="2" charset="-122"/>
            </a:endParaRPr>
          </a:p>
          <a:p>
            <a:r>
              <a:rPr lang="zh-CN" altLang="en-US" sz="1400" dirty="0">
                <a:latin typeface="宋体" panose="02010600030101010101" pitchFamily="2" charset="-122"/>
                <a:ea typeface="宋体" panose="02010600030101010101" pitchFamily="2" charset="-122"/>
              </a:rPr>
              <a:t>最近几次振动逐渐变大</a:t>
            </a:r>
          </a:p>
          <a:p>
            <a:r>
              <a:rPr lang="zh-CN" altLang="en-US" sz="1400" dirty="0">
                <a:latin typeface="宋体" panose="02010600030101010101" pitchFamily="2" charset="-122"/>
                <a:ea typeface="宋体" panose="02010600030101010101" pitchFamily="2" charset="-122"/>
              </a:rPr>
              <a:t>力信号开始发生变化</a:t>
            </a:r>
          </a:p>
          <a:p>
            <a:r>
              <a:rPr lang="zh-CN" altLang="en-US" sz="1400" dirty="0">
                <a:latin typeface="宋体" panose="02010600030101010101" pitchFamily="2" charset="-122"/>
                <a:ea typeface="宋体" panose="02010600030101010101" pitchFamily="2" charset="-122"/>
              </a:rPr>
              <a:t>某些频域特征持续上升</a:t>
            </a:r>
          </a:p>
        </p:txBody>
      </p:sp>
      <p:sp>
        <p:nvSpPr>
          <p:cNvPr id="41" name="文本框 40">
            <a:extLst>
              <a:ext uri="{FF2B5EF4-FFF2-40B4-BE49-F238E27FC236}">
                <a16:creationId xmlns:a16="http://schemas.microsoft.com/office/drawing/2014/main" id="{16A370A2-A844-3C8C-83A2-80EB41A8839B}"/>
              </a:ext>
            </a:extLst>
          </p:cNvPr>
          <p:cNvSpPr txBox="1"/>
          <p:nvPr/>
        </p:nvSpPr>
        <p:spPr>
          <a:xfrm>
            <a:off x="4140131" y="4514421"/>
            <a:ext cx="2111317" cy="523220"/>
          </a:xfrm>
          <a:prstGeom prst="rect">
            <a:avLst/>
          </a:prstGeom>
          <a:noFill/>
        </p:spPr>
        <p:txBody>
          <a:bodyPr wrap="square">
            <a:spAutoFit/>
          </a:bodyPr>
          <a:lstStyle/>
          <a:p>
            <a:pPr algn="ctr"/>
            <a:r>
              <a:rPr lang="zh-CN" altLang="en-US" sz="1400" dirty="0">
                <a:latin typeface="宋体" panose="02010600030101010101" pitchFamily="2" charset="-122"/>
                <a:ea typeface="宋体" panose="02010600030101010101" pitchFamily="2" charset="-122"/>
              </a:rPr>
              <a:t>综合整个历史来看，刀具处于什么退化状态</a:t>
            </a:r>
          </a:p>
        </p:txBody>
      </p:sp>
      <p:sp>
        <p:nvSpPr>
          <p:cNvPr id="42" name="文本框 41">
            <a:extLst>
              <a:ext uri="{FF2B5EF4-FFF2-40B4-BE49-F238E27FC236}">
                <a16:creationId xmlns:a16="http://schemas.microsoft.com/office/drawing/2014/main" id="{55AD12C2-E3D8-3F25-8B8F-88D98E487899}"/>
              </a:ext>
            </a:extLst>
          </p:cNvPr>
          <p:cNvSpPr txBox="1"/>
          <p:nvPr/>
        </p:nvSpPr>
        <p:spPr>
          <a:xfrm>
            <a:off x="7072479" y="4194981"/>
            <a:ext cx="1405352" cy="276999"/>
          </a:xfrm>
          <a:prstGeom prst="rect">
            <a:avLst/>
          </a:prstGeom>
          <a:noFill/>
        </p:spPr>
        <p:txBody>
          <a:bodyPr wrap="square" rtlCol="0">
            <a:spAutoFit/>
          </a:bodyPr>
          <a:lstStyle/>
          <a:p>
            <a:pPr algn="ctr"/>
            <a:r>
              <a:rPr lang="zh-CN" altLang="en-US" sz="1200" b="1" dirty="0">
                <a:latin typeface="宋体" panose="02010600030101010101" pitchFamily="2" charset="-122"/>
                <a:ea typeface="宋体" panose="02010600030101010101" pitchFamily="2" charset="-122"/>
              </a:rPr>
              <a:t>线性层</a:t>
            </a:r>
            <a:r>
              <a:rPr lang="en-US" altLang="zh-CN" sz="1200" b="1" dirty="0">
                <a:latin typeface="宋体" panose="02010600030101010101" pitchFamily="2" charset="-122"/>
                <a:ea typeface="宋体" panose="02010600030101010101" pitchFamily="2" charset="-122"/>
              </a:rPr>
              <a:t>+</a:t>
            </a:r>
            <a:r>
              <a:rPr lang="zh-CN" altLang="en-US" sz="1200" b="1" dirty="0">
                <a:latin typeface="宋体" panose="02010600030101010101" pitchFamily="2" charset="-122"/>
                <a:ea typeface="宋体" panose="02010600030101010101" pitchFamily="2" charset="-122"/>
              </a:rPr>
              <a:t>激活函数</a:t>
            </a:r>
          </a:p>
        </p:txBody>
      </p:sp>
      <p:sp>
        <p:nvSpPr>
          <p:cNvPr id="43" name="文本框 42">
            <a:extLst>
              <a:ext uri="{FF2B5EF4-FFF2-40B4-BE49-F238E27FC236}">
                <a16:creationId xmlns:a16="http://schemas.microsoft.com/office/drawing/2014/main" id="{C1AA5F02-0DFB-D970-08D7-04B76DB1C802}"/>
              </a:ext>
            </a:extLst>
          </p:cNvPr>
          <p:cNvSpPr txBox="1"/>
          <p:nvPr/>
        </p:nvSpPr>
        <p:spPr>
          <a:xfrm>
            <a:off x="7088453" y="2282514"/>
            <a:ext cx="1405352" cy="276999"/>
          </a:xfrm>
          <a:prstGeom prst="rect">
            <a:avLst/>
          </a:prstGeom>
          <a:noFill/>
        </p:spPr>
        <p:txBody>
          <a:bodyPr wrap="square" rtlCol="0">
            <a:spAutoFit/>
          </a:bodyPr>
          <a:lstStyle/>
          <a:p>
            <a:pPr algn="ctr"/>
            <a:r>
              <a:rPr lang="en-US" altLang="zh-CN" sz="1200" b="1" dirty="0">
                <a:latin typeface="宋体" panose="02010600030101010101" pitchFamily="2" charset="-122"/>
                <a:ea typeface="宋体" panose="02010600030101010101" pitchFamily="2" charset="-122"/>
              </a:rPr>
              <a:t>64×3+Softmax</a:t>
            </a:r>
            <a:endParaRPr lang="zh-CN" altLang="en-US" sz="1200" b="1" dirty="0">
              <a:latin typeface="宋体" panose="02010600030101010101" pitchFamily="2" charset="-122"/>
              <a:ea typeface="宋体" panose="02010600030101010101" pitchFamily="2" charset="-122"/>
            </a:endParaRPr>
          </a:p>
        </p:txBody>
      </p:sp>
      <p:sp>
        <p:nvSpPr>
          <p:cNvPr id="44" name="文本框 43">
            <a:extLst>
              <a:ext uri="{FF2B5EF4-FFF2-40B4-BE49-F238E27FC236}">
                <a16:creationId xmlns:a16="http://schemas.microsoft.com/office/drawing/2014/main" id="{0D3BB588-8F5F-9317-6340-F5E59EC09FC9}"/>
              </a:ext>
            </a:extLst>
          </p:cNvPr>
          <p:cNvSpPr txBox="1"/>
          <p:nvPr/>
        </p:nvSpPr>
        <p:spPr>
          <a:xfrm>
            <a:off x="7110613" y="3039002"/>
            <a:ext cx="1405352" cy="276999"/>
          </a:xfrm>
          <a:prstGeom prst="rect">
            <a:avLst/>
          </a:prstGeom>
          <a:noFill/>
        </p:spPr>
        <p:txBody>
          <a:bodyPr wrap="square" rtlCol="0">
            <a:spAutoFit/>
          </a:bodyPr>
          <a:lstStyle/>
          <a:p>
            <a:pPr algn="ctr"/>
            <a:r>
              <a:rPr lang="en-US" altLang="zh-CN" sz="1200" b="1" dirty="0">
                <a:latin typeface="宋体" panose="02010600030101010101" pitchFamily="2" charset="-122"/>
                <a:ea typeface="宋体" panose="02010600030101010101" pitchFamily="2" charset="-122"/>
              </a:rPr>
              <a:t>64×5+Softmax</a:t>
            </a:r>
            <a:endParaRPr lang="zh-CN" altLang="en-US" sz="1200" b="1" dirty="0">
              <a:latin typeface="宋体" panose="02010600030101010101" pitchFamily="2" charset="-122"/>
              <a:ea typeface="宋体" panose="02010600030101010101" pitchFamily="2" charset="-122"/>
            </a:endParaRPr>
          </a:p>
        </p:txBody>
      </p:sp>
      <p:sp>
        <p:nvSpPr>
          <p:cNvPr id="45" name="文本框 44">
            <a:extLst>
              <a:ext uri="{FF2B5EF4-FFF2-40B4-BE49-F238E27FC236}">
                <a16:creationId xmlns:a16="http://schemas.microsoft.com/office/drawing/2014/main" id="{581FB6ED-EBE1-6473-6B67-EEB0A29F589C}"/>
              </a:ext>
            </a:extLst>
          </p:cNvPr>
          <p:cNvSpPr txBox="1"/>
          <p:nvPr/>
        </p:nvSpPr>
        <p:spPr>
          <a:xfrm>
            <a:off x="7110613" y="3804255"/>
            <a:ext cx="1405352" cy="276999"/>
          </a:xfrm>
          <a:prstGeom prst="rect">
            <a:avLst/>
          </a:prstGeom>
          <a:noFill/>
        </p:spPr>
        <p:txBody>
          <a:bodyPr wrap="square" rtlCol="0">
            <a:spAutoFit/>
          </a:bodyPr>
          <a:lstStyle/>
          <a:p>
            <a:pPr algn="ctr"/>
            <a:r>
              <a:rPr lang="en-US" altLang="zh-CN" sz="1200" b="1" dirty="0">
                <a:latin typeface="宋体" panose="02010600030101010101" pitchFamily="2" charset="-122"/>
                <a:ea typeface="宋体" panose="02010600030101010101" pitchFamily="2" charset="-122"/>
              </a:rPr>
              <a:t>64×1+Sigmoid</a:t>
            </a:r>
            <a:endParaRPr lang="zh-CN" altLang="en-US" sz="1200" b="1" dirty="0">
              <a:latin typeface="宋体" panose="02010600030101010101" pitchFamily="2" charset="-122"/>
              <a:ea typeface="宋体" panose="02010600030101010101" pitchFamily="2" charset="-122"/>
            </a:endParaRPr>
          </a:p>
        </p:txBody>
      </p:sp>
      <p:sp>
        <p:nvSpPr>
          <p:cNvPr id="46" name="箭头: 右 45">
            <a:extLst>
              <a:ext uri="{FF2B5EF4-FFF2-40B4-BE49-F238E27FC236}">
                <a16:creationId xmlns:a16="http://schemas.microsoft.com/office/drawing/2014/main" id="{01D40E52-AFE2-A8A1-5AFD-59214E1A2A82}"/>
              </a:ext>
            </a:extLst>
          </p:cNvPr>
          <p:cNvSpPr/>
          <p:nvPr/>
        </p:nvSpPr>
        <p:spPr>
          <a:xfrm>
            <a:off x="8793333" y="1846848"/>
            <a:ext cx="382642" cy="460268"/>
          </a:xfrm>
          <a:prstGeom prst="right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箭头: 右 46">
            <a:extLst>
              <a:ext uri="{FF2B5EF4-FFF2-40B4-BE49-F238E27FC236}">
                <a16:creationId xmlns:a16="http://schemas.microsoft.com/office/drawing/2014/main" id="{9959F67C-6E58-57B0-5538-A822DCB522A8}"/>
              </a:ext>
            </a:extLst>
          </p:cNvPr>
          <p:cNvSpPr/>
          <p:nvPr/>
        </p:nvSpPr>
        <p:spPr>
          <a:xfrm>
            <a:off x="8793333" y="2604814"/>
            <a:ext cx="382642" cy="460268"/>
          </a:xfrm>
          <a:prstGeom prst="right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箭头: 右 47">
            <a:extLst>
              <a:ext uri="{FF2B5EF4-FFF2-40B4-BE49-F238E27FC236}">
                <a16:creationId xmlns:a16="http://schemas.microsoft.com/office/drawing/2014/main" id="{292D839F-2474-7EC8-13EC-0F36D106C8B2}"/>
              </a:ext>
            </a:extLst>
          </p:cNvPr>
          <p:cNvSpPr/>
          <p:nvPr/>
        </p:nvSpPr>
        <p:spPr>
          <a:xfrm>
            <a:off x="8799908" y="3354489"/>
            <a:ext cx="382642" cy="460268"/>
          </a:xfrm>
          <a:prstGeom prst="right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圆角 48">
            <a:extLst>
              <a:ext uri="{FF2B5EF4-FFF2-40B4-BE49-F238E27FC236}">
                <a16:creationId xmlns:a16="http://schemas.microsoft.com/office/drawing/2014/main" id="{6070345E-FA04-6004-EEF7-5615FB022D10}"/>
              </a:ext>
            </a:extLst>
          </p:cNvPr>
          <p:cNvSpPr/>
          <p:nvPr/>
        </p:nvSpPr>
        <p:spPr>
          <a:xfrm>
            <a:off x="2060822" y="1682750"/>
            <a:ext cx="6587878" cy="3787016"/>
          </a:xfrm>
          <a:prstGeom prst="roundRect">
            <a:avLst>
              <a:gd name="adj" fmla="val 5129"/>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0" name="图片 49">
            <a:extLst>
              <a:ext uri="{FF2B5EF4-FFF2-40B4-BE49-F238E27FC236}">
                <a16:creationId xmlns:a16="http://schemas.microsoft.com/office/drawing/2014/main" id="{40576B83-AA17-F969-30B6-AEAE3E824BE3}"/>
              </a:ext>
            </a:extLst>
          </p:cNvPr>
          <p:cNvPicPr>
            <a:picLocks noChangeAspect="1"/>
          </p:cNvPicPr>
          <p:nvPr/>
        </p:nvPicPr>
        <p:blipFill>
          <a:blip r:embed="rId3"/>
          <a:stretch>
            <a:fillRect/>
          </a:stretch>
        </p:blipFill>
        <p:spPr>
          <a:xfrm>
            <a:off x="11057648" y="1895997"/>
            <a:ext cx="482625" cy="361969"/>
          </a:xfrm>
          <a:prstGeom prst="rect">
            <a:avLst/>
          </a:prstGeom>
        </p:spPr>
      </p:pic>
      <p:pic>
        <p:nvPicPr>
          <p:cNvPr id="51" name="图片 50">
            <a:extLst>
              <a:ext uri="{FF2B5EF4-FFF2-40B4-BE49-F238E27FC236}">
                <a16:creationId xmlns:a16="http://schemas.microsoft.com/office/drawing/2014/main" id="{DDCDB3AE-06F9-8EC6-EA1B-A1AB71754636}"/>
              </a:ext>
            </a:extLst>
          </p:cNvPr>
          <p:cNvPicPr>
            <a:picLocks noChangeAspect="1"/>
          </p:cNvPicPr>
          <p:nvPr/>
        </p:nvPicPr>
        <p:blipFill>
          <a:blip r:embed="rId4"/>
          <a:stretch>
            <a:fillRect/>
          </a:stretch>
        </p:blipFill>
        <p:spPr>
          <a:xfrm>
            <a:off x="11041101" y="2558295"/>
            <a:ext cx="406421" cy="361969"/>
          </a:xfrm>
          <a:prstGeom prst="rect">
            <a:avLst/>
          </a:prstGeom>
        </p:spPr>
      </p:pic>
      <p:pic>
        <p:nvPicPr>
          <p:cNvPr id="52" name="图片 51">
            <a:extLst>
              <a:ext uri="{FF2B5EF4-FFF2-40B4-BE49-F238E27FC236}">
                <a16:creationId xmlns:a16="http://schemas.microsoft.com/office/drawing/2014/main" id="{720CCB88-DB08-C43C-2262-46D1A288B1DC}"/>
              </a:ext>
            </a:extLst>
          </p:cNvPr>
          <p:cNvPicPr>
            <a:picLocks noChangeAspect="1"/>
          </p:cNvPicPr>
          <p:nvPr/>
        </p:nvPicPr>
        <p:blipFill>
          <a:blip r:embed="rId5"/>
          <a:stretch>
            <a:fillRect/>
          </a:stretch>
        </p:blipFill>
        <p:spPr>
          <a:xfrm>
            <a:off x="11127501" y="3378507"/>
            <a:ext cx="342918" cy="349268"/>
          </a:xfrm>
          <a:prstGeom prst="rect">
            <a:avLst/>
          </a:prstGeom>
        </p:spPr>
      </p:pic>
    </p:spTree>
    <p:extLst>
      <p:ext uri="{BB962C8B-B14F-4D97-AF65-F5344CB8AC3E}">
        <p14:creationId xmlns:p14="http://schemas.microsoft.com/office/powerpoint/2010/main" val="2369057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4EE3E78F-A967-B7E6-6B5C-F4542C0E81D6}"/>
              </a:ext>
            </a:extLst>
          </p:cNvPr>
          <p:cNvPicPr>
            <a:picLocks noChangeAspect="1"/>
          </p:cNvPicPr>
          <p:nvPr/>
        </p:nvPicPr>
        <p:blipFill>
          <a:blip r:embed="rId2"/>
          <a:stretch>
            <a:fillRect/>
          </a:stretch>
        </p:blipFill>
        <p:spPr>
          <a:xfrm>
            <a:off x="1605008" y="559682"/>
            <a:ext cx="482625" cy="361969"/>
          </a:xfrm>
          <a:prstGeom prst="rect">
            <a:avLst/>
          </a:prstGeom>
        </p:spPr>
      </p:pic>
      <p:pic>
        <p:nvPicPr>
          <p:cNvPr id="5" name="图片 4">
            <a:extLst>
              <a:ext uri="{FF2B5EF4-FFF2-40B4-BE49-F238E27FC236}">
                <a16:creationId xmlns:a16="http://schemas.microsoft.com/office/drawing/2014/main" id="{9FC2209C-DE43-DFD8-D592-D92E1849D254}"/>
              </a:ext>
            </a:extLst>
          </p:cNvPr>
          <p:cNvPicPr>
            <a:picLocks noChangeAspect="1"/>
          </p:cNvPicPr>
          <p:nvPr/>
        </p:nvPicPr>
        <p:blipFill>
          <a:blip r:embed="rId3"/>
          <a:stretch>
            <a:fillRect/>
          </a:stretch>
        </p:blipFill>
        <p:spPr>
          <a:xfrm>
            <a:off x="5155541" y="595369"/>
            <a:ext cx="406421" cy="361969"/>
          </a:xfrm>
          <a:prstGeom prst="rect">
            <a:avLst/>
          </a:prstGeom>
        </p:spPr>
      </p:pic>
      <p:pic>
        <p:nvPicPr>
          <p:cNvPr id="6" name="图片 5">
            <a:extLst>
              <a:ext uri="{FF2B5EF4-FFF2-40B4-BE49-F238E27FC236}">
                <a16:creationId xmlns:a16="http://schemas.microsoft.com/office/drawing/2014/main" id="{DF8024EF-E7DA-917B-CC15-FB6601ECA2A6}"/>
              </a:ext>
            </a:extLst>
          </p:cNvPr>
          <p:cNvPicPr>
            <a:picLocks noChangeAspect="1"/>
          </p:cNvPicPr>
          <p:nvPr/>
        </p:nvPicPr>
        <p:blipFill>
          <a:blip r:embed="rId4"/>
          <a:stretch>
            <a:fillRect/>
          </a:stretch>
        </p:blipFill>
        <p:spPr>
          <a:xfrm>
            <a:off x="9996433" y="611061"/>
            <a:ext cx="342918" cy="349268"/>
          </a:xfrm>
          <a:prstGeom prst="rect">
            <a:avLst/>
          </a:prstGeom>
        </p:spPr>
      </p:pic>
      <p:sp>
        <p:nvSpPr>
          <p:cNvPr id="7" name="矩形 6">
            <a:extLst>
              <a:ext uri="{FF2B5EF4-FFF2-40B4-BE49-F238E27FC236}">
                <a16:creationId xmlns:a16="http://schemas.microsoft.com/office/drawing/2014/main" id="{B36C38EF-1640-ACCD-667B-BABC4F2395F1}"/>
              </a:ext>
            </a:extLst>
          </p:cNvPr>
          <p:cNvSpPr/>
          <p:nvPr/>
        </p:nvSpPr>
        <p:spPr>
          <a:xfrm>
            <a:off x="1443960" y="486135"/>
            <a:ext cx="838200" cy="5397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88B39057-EBF5-AE83-FD4F-AF8E0C886B00}"/>
              </a:ext>
            </a:extLst>
          </p:cNvPr>
          <p:cNvSpPr/>
          <p:nvPr/>
        </p:nvSpPr>
        <p:spPr>
          <a:xfrm>
            <a:off x="4928292" y="521822"/>
            <a:ext cx="838200" cy="5397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DC4AA7A6-05AF-3221-B597-9721B80AB425}"/>
              </a:ext>
            </a:extLst>
          </p:cNvPr>
          <p:cNvSpPr/>
          <p:nvPr/>
        </p:nvSpPr>
        <p:spPr>
          <a:xfrm>
            <a:off x="9748792" y="515820"/>
            <a:ext cx="838200" cy="5397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16707198-AAE9-28A6-86A3-5DDF7AFDF8CB}"/>
              </a:ext>
            </a:extLst>
          </p:cNvPr>
          <p:cNvSpPr txBox="1"/>
          <p:nvPr/>
        </p:nvSpPr>
        <p:spPr>
          <a:xfrm>
            <a:off x="3386872" y="3420956"/>
            <a:ext cx="4660250" cy="923330"/>
          </a:xfrm>
          <a:prstGeom prst="rect">
            <a:avLst/>
          </a:prstGeom>
          <a:noFill/>
        </p:spPr>
        <p:txBody>
          <a:bodyPr wrap="none" rtlCol="0">
            <a:spAutoFit/>
          </a:bodyPr>
          <a:lstStyle/>
          <a:p>
            <a:pPr algn="ctr"/>
            <a:r>
              <a:rPr lang="zh-CN" altLang="en-US" b="1" dirty="0">
                <a:latin typeface="Times New Roman" panose="02020603050405020304" pitchFamily="18" charset="0"/>
                <a:ea typeface="宋体" panose="02010600030101010101" pitchFamily="2" charset="-122"/>
                <a:cs typeface="Times New Roman" panose="02020603050405020304" pitchFamily="18" charset="0"/>
              </a:rPr>
              <a:t>将</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head2</a:t>
            </a:r>
            <a:r>
              <a:rPr lang="zh-CN" altLang="en-US" b="1" dirty="0">
                <a:latin typeface="Times New Roman" panose="02020603050405020304" pitchFamily="18" charset="0"/>
                <a:ea typeface="宋体" panose="02010600030101010101" pitchFamily="2" charset="-122"/>
                <a:cs typeface="Times New Roman" panose="02020603050405020304" pitchFamily="18" charset="0"/>
              </a:rPr>
              <a:t>映射到三阶段概率分类</a:t>
            </a:r>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a:p>
            <a:pPr algn="ctr"/>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dirty="0">
                <a:latin typeface="Times New Roman" panose="02020603050405020304" pitchFamily="18" charset="0"/>
                <a:ea typeface="宋体" panose="02010600030101010101" pitchFamily="2" charset="-122"/>
                <a:cs typeface="Times New Roman" panose="02020603050405020304" pitchFamily="18" charset="0"/>
              </a:rPr>
              <a:t>将</a:t>
            </a:r>
            <a:r>
              <a:rPr lang="en-US" altLang="zh-CN" dirty="0">
                <a:latin typeface="Times New Roman" panose="02020603050405020304" pitchFamily="18" charset="0"/>
                <a:ea typeface="宋体" panose="02010600030101010101" pitchFamily="2" charset="-122"/>
                <a:cs typeface="Times New Roman" panose="02020603050405020304" pitchFamily="18" charset="0"/>
              </a:rPr>
              <a:t>head2</a:t>
            </a:r>
            <a:r>
              <a:rPr lang="zh-CN" altLang="en-US" dirty="0">
                <a:latin typeface="Times New Roman" panose="02020603050405020304" pitchFamily="18" charset="0"/>
                <a:ea typeface="宋体" panose="02010600030101010101" pitchFamily="2" charset="-122"/>
                <a:cs typeface="Times New Roman" panose="02020603050405020304" pitchFamily="18" charset="0"/>
              </a:rPr>
              <a:t>输出的五维概率重新映射成三维概率</a:t>
            </a:r>
          </a:p>
        </p:txBody>
      </p:sp>
      <p:pic>
        <p:nvPicPr>
          <p:cNvPr id="11" name="图片 10">
            <a:extLst>
              <a:ext uri="{FF2B5EF4-FFF2-40B4-BE49-F238E27FC236}">
                <a16:creationId xmlns:a16="http://schemas.microsoft.com/office/drawing/2014/main" id="{39404F2A-DDA0-3D1F-ECDA-254F9EB6931E}"/>
              </a:ext>
            </a:extLst>
          </p:cNvPr>
          <p:cNvPicPr>
            <a:picLocks noChangeAspect="1"/>
          </p:cNvPicPr>
          <p:nvPr/>
        </p:nvPicPr>
        <p:blipFill>
          <a:blip r:embed="rId5"/>
          <a:stretch>
            <a:fillRect/>
          </a:stretch>
        </p:blipFill>
        <p:spPr>
          <a:xfrm>
            <a:off x="4358278" y="4399745"/>
            <a:ext cx="2806844" cy="1492327"/>
          </a:xfrm>
          <a:prstGeom prst="rect">
            <a:avLst/>
          </a:prstGeom>
        </p:spPr>
      </p:pic>
      <p:sp>
        <p:nvSpPr>
          <p:cNvPr id="16" name="矩形: 圆角 15">
            <a:extLst>
              <a:ext uri="{FF2B5EF4-FFF2-40B4-BE49-F238E27FC236}">
                <a16:creationId xmlns:a16="http://schemas.microsoft.com/office/drawing/2014/main" id="{D7592E97-45C7-E728-1FEE-4A12090733D7}"/>
              </a:ext>
            </a:extLst>
          </p:cNvPr>
          <p:cNvSpPr/>
          <p:nvPr/>
        </p:nvSpPr>
        <p:spPr>
          <a:xfrm>
            <a:off x="3166147" y="2729247"/>
            <a:ext cx="5297785" cy="3787016"/>
          </a:xfrm>
          <a:prstGeom prst="roundRect">
            <a:avLst>
              <a:gd name="adj" fmla="val 5129"/>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a:extLst>
              <a:ext uri="{FF2B5EF4-FFF2-40B4-BE49-F238E27FC236}">
                <a16:creationId xmlns:a16="http://schemas.microsoft.com/office/drawing/2014/main" id="{20786F93-FF9C-94B3-DFE5-8B99967FE028}"/>
              </a:ext>
            </a:extLst>
          </p:cNvPr>
          <p:cNvSpPr txBox="1"/>
          <p:nvPr/>
        </p:nvSpPr>
        <p:spPr>
          <a:xfrm>
            <a:off x="1278125" y="52657"/>
            <a:ext cx="1338828" cy="369332"/>
          </a:xfrm>
          <a:prstGeom prst="rect">
            <a:avLst/>
          </a:prstGeom>
          <a:noFill/>
        </p:spPr>
        <p:txBody>
          <a:bodyPr wrap="none" rtlCol="0">
            <a:spAutoFit/>
          </a:bodyPr>
          <a:lstStyle/>
          <a:p>
            <a:r>
              <a:rPr lang="zh-CN" altLang="en-US" dirty="0">
                <a:latin typeface="Times New Roman" panose="02020603050405020304" pitchFamily="18" charset="0"/>
                <a:ea typeface="宋体" panose="02010600030101010101" pitchFamily="2" charset="-122"/>
                <a:cs typeface="Times New Roman" panose="02020603050405020304" pitchFamily="18" charset="0"/>
              </a:rPr>
              <a:t>大阶段分类</a:t>
            </a:r>
          </a:p>
        </p:txBody>
      </p:sp>
      <p:sp>
        <p:nvSpPr>
          <p:cNvPr id="20" name="文本框 19">
            <a:extLst>
              <a:ext uri="{FF2B5EF4-FFF2-40B4-BE49-F238E27FC236}">
                <a16:creationId xmlns:a16="http://schemas.microsoft.com/office/drawing/2014/main" id="{421CCE67-9D1B-030A-C4AD-F94195E2EB12}"/>
              </a:ext>
            </a:extLst>
          </p:cNvPr>
          <p:cNvSpPr txBox="1"/>
          <p:nvPr/>
        </p:nvSpPr>
        <p:spPr>
          <a:xfrm>
            <a:off x="3738386" y="87538"/>
            <a:ext cx="3647152" cy="369332"/>
          </a:xfrm>
          <a:prstGeom prst="rect">
            <a:avLst/>
          </a:prstGeom>
          <a:noFill/>
        </p:spPr>
        <p:txBody>
          <a:bodyPr wrap="none" rtlCol="0">
            <a:spAutoFit/>
          </a:bodyPr>
          <a:lstStyle/>
          <a:p>
            <a:r>
              <a:rPr lang="zh-CN" altLang="en-US" dirty="0">
                <a:latin typeface="Times New Roman" panose="02020603050405020304" pitchFamily="18" charset="0"/>
                <a:ea typeface="宋体" panose="02010600030101010101" pitchFamily="2" charset="-122"/>
                <a:cs typeface="Times New Roman" panose="02020603050405020304" pitchFamily="18" charset="0"/>
              </a:rPr>
              <a:t>在退化内部具体处于哪一个子状态</a:t>
            </a:r>
          </a:p>
        </p:txBody>
      </p:sp>
      <p:sp>
        <p:nvSpPr>
          <p:cNvPr id="21" name="文本框 20">
            <a:extLst>
              <a:ext uri="{FF2B5EF4-FFF2-40B4-BE49-F238E27FC236}">
                <a16:creationId xmlns:a16="http://schemas.microsoft.com/office/drawing/2014/main" id="{7EAF897D-651B-2954-1652-1A17B73BDB1E}"/>
              </a:ext>
            </a:extLst>
          </p:cNvPr>
          <p:cNvSpPr txBox="1"/>
          <p:nvPr/>
        </p:nvSpPr>
        <p:spPr>
          <a:xfrm>
            <a:off x="8294789" y="89338"/>
            <a:ext cx="3647152" cy="369332"/>
          </a:xfrm>
          <a:prstGeom prst="rect">
            <a:avLst/>
          </a:prstGeom>
          <a:noFill/>
        </p:spPr>
        <p:txBody>
          <a:bodyPr wrap="none" rtlCol="0">
            <a:spAutoFit/>
          </a:bodyPr>
          <a:lstStyle/>
          <a:p>
            <a:r>
              <a:rPr lang="zh-CN" altLang="en-US" dirty="0">
                <a:latin typeface="Times New Roman" panose="02020603050405020304" pitchFamily="18" charset="0"/>
                <a:ea typeface="宋体" panose="02010600030101010101" pitchFamily="2" charset="-122"/>
                <a:cs typeface="Times New Roman" panose="02020603050405020304" pitchFamily="18" charset="0"/>
              </a:rPr>
              <a:t>当前具体在生命周期的哪一个位置</a:t>
            </a:r>
          </a:p>
        </p:txBody>
      </p:sp>
      <p:sp>
        <p:nvSpPr>
          <p:cNvPr id="25" name="文本框 24">
            <a:extLst>
              <a:ext uri="{FF2B5EF4-FFF2-40B4-BE49-F238E27FC236}">
                <a16:creationId xmlns:a16="http://schemas.microsoft.com/office/drawing/2014/main" id="{4BA7D3BA-20B6-57E8-6B73-43791C5E3112}"/>
              </a:ext>
            </a:extLst>
          </p:cNvPr>
          <p:cNvSpPr txBox="1"/>
          <p:nvPr/>
        </p:nvSpPr>
        <p:spPr>
          <a:xfrm>
            <a:off x="1419686" y="1068320"/>
            <a:ext cx="886748" cy="369332"/>
          </a:xfrm>
          <a:prstGeom prst="rect">
            <a:avLst/>
          </a:prstGeom>
          <a:noFill/>
        </p:spPr>
        <p:txBody>
          <a:bodyPr wrap="square">
            <a:spAutoFit/>
          </a:bodyPr>
          <a:lstStyle/>
          <a:p>
            <a:pPr algn="ctr"/>
            <a:r>
              <a:rPr lang="en-US" altLang="zh-CN" sz="1800" b="1" dirty="0">
                <a:latin typeface="Times New Roman" panose="02020603050405020304" pitchFamily="18" charset="0"/>
                <a:ea typeface="宋体" panose="02010600030101010101" pitchFamily="2" charset="-122"/>
                <a:cs typeface="Times New Roman" panose="02020603050405020304" pitchFamily="18" charset="0"/>
              </a:rPr>
              <a:t>head1</a:t>
            </a:r>
            <a:endParaRPr lang="zh-CN" altLang="en-US" dirty="0"/>
          </a:p>
        </p:txBody>
      </p:sp>
      <p:sp>
        <p:nvSpPr>
          <p:cNvPr id="26" name="文本框 25">
            <a:extLst>
              <a:ext uri="{FF2B5EF4-FFF2-40B4-BE49-F238E27FC236}">
                <a16:creationId xmlns:a16="http://schemas.microsoft.com/office/drawing/2014/main" id="{7CCF887B-7CA3-613B-A134-FDAF304F8000}"/>
              </a:ext>
            </a:extLst>
          </p:cNvPr>
          <p:cNvSpPr txBox="1"/>
          <p:nvPr/>
        </p:nvSpPr>
        <p:spPr>
          <a:xfrm>
            <a:off x="4928292" y="1113866"/>
            <a:ext cx="886748" cy="369332"/>
          </a:xfrm>
          <a:prstGeom prst="rect">
            <a:avLst/>
          </a:prstGeom>
          <a:noFill/>
        </p:spPr>
        <p:txBody>
          <a:bodyPr wrap="square">
            <a:spAutoFit/>
          </a:bodyPr>
          <a:lstStyle/>
          <a:p>
            <a:pPr algn="ctr"/>
            <a:r>
              <a:rPr lang="en-US" altLang="zh-CN" sz="1800" b="1" dirty="0">
                <a:latin typeface="Times New Roman" panose="02020603050405020304" pitchFamily="18" charset="0"/>
                <a:ea typeface="宋体" panose="02010600030101010101" pitchFamily="2" charset="-122"/>
                <a:cs typeface="Times New Roman" panose="02020603050405020304" pitchFamily="18" charset="0"/>
              </a:rPr>
              <a:t>head2</a:t>
            </a:r>
            <a:endParaRPr lang="zh-CN" altLang="en-US" dirty="0"/>
          </a:p>
        </p:txBody>
      </p:sp>
      <p:sp>
        <p:nvSpPr>
          <p:cNvPr id="27" name="文本框 26">
            <a:extLst>
              <a:ext uri="{FF2B5EF4-FFF2-40B4-BE49-F238E27FC236}">
                <a16:creationId xmlns:a16="http://schemas.microsoft.com/office/drawing/2014/main" id="{BF91486F-3F4C-2987-E351-F81059A45563}"/>
              </a:ext>
            </a:extLst>
          </p:cNvPr>
          <p:cNvSpPr txBox="1"/>
          <p:nvPr/>
        </p:nvSpPr>
        <p:spPr>
          <a:xfrm>
            <a:off x="9748792" y="1113866"/>
            <a:ext cx="886748" cy="369332"/>
          </a:xfrm>
          <a:prstGeom prst="rect">
            <a:avLst/>
          </a:prstGeom>
          <a:noFill/>
        </p:spPr>
        <p:txBody>
          <a:bodyPr wrap="square">
            <a:spAutoFit/>
          </a:bodyPr>
          <a:lstStyle/>
          <a:p>
            <a:pPr algn="ctr"/>
            <a:r>
              <a:rPr lang="en-US" altLang="zh-CN" sz="1800" b="1" dirty="0">
                <a:latin typeface="Times New Roman" panose="02020603050405020304" pitchFamily="18" charset="0"/>
                <a:ea typeface="宋体" panose="02010600030101010101" pitchFamily="2" charset="-122"/>
                <a:cs typeface="Times New Roman" panose="02020603050405020304" pitchFamily="18" charset="0"/>
              </a:rPr>
              <a:t>head</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3</a:t>
            </a:r>
            <a:endParaRPr lang="zh-CN" altLang="en-US" dirty="0"/>
          </a:p>
        </p:txBody>
      </p:sp>
      <mc:AlternateContent xmlns:mc="http://schemas.openxmlformats.org/markup-compatibility/2006">
        <mc:Choice xmlns:a14="http://schemas.microsoft.com/office/drawing/2010/main" Requires="a14">
          <p:sp>
            <p:nvSpPr>
              <p:cNvPr id="28" name="文本框 27">
                <a:extLst>
                  <a:ext uri="{FF2B5EF4-FFF2-40B4-BE49-F238E27FC236}">
                    <a16:creationId xmlns:a16="http://schemas.microsoft.com/office/drawing/2014/main" id="{0C4B1BD4-27BD-3AB4-3C80-A291AA43BDAF}"/>
                  </a:ext>
                </a:extLst>
              </p:cNvPr>
              <p:cNvSpPr txBox="1"/>
              <p:nvPr/>
            </p:nvSpPr>
            <p:spPr>
              <a:xfrm>
                <a:off x="3359362" y="6068302"/>
                <a:ext cx="1819409"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r>
                        <a:rPr lang="en-US" altLang="zh-CN" b="0" i="1" smtClean="0">
                          <a:latin typeface="Cambria Math" panose="02040503050406030204" pitchFamily="18" charset="0"/>
                        </a:rPr>
                        <m:t>𝑆</m:t>
                      </m:r>
                      <m:r>
                        <a:rPr lang="en-US" altLang="zh-CN" b="0" i="1" smtClean="0">
                          <a:latin typeface="Cambria Math" panose="02040503050406030204" pitchFamily="18" charset="0"/>
                        </a:rPr>
                        <m:t>0,</m:t>
                      </m:r>
                      <m:r>
                        <a:rPr lang="en-US" altLang="zh-CN" b="0" i="1" smtClean="0">
                          <a:latin typeface="Cambria Math" panose="02040503050406030204" pitchFamily="18" charset="0"/>
                        </a:rPr>
                        <m:t>𝑆</m:t>
                      </m:r>
                      <m:r>
                        <a:rPr lang="en-US" altLang="zh-CN" b="0" i="1" smtClean="0">
                          <a:latin typeface="Cambria Math" panose="02040503050406030204" pitchFamily="18" charset="0"/>
                        </a:rPr>
                        <m:t>1,</m:t>
                      </m:r>
                      <m:r>
                        <a:rPr lang="en-US" altLang="zh-CN" b="0" i="1" smtClean="0">
                          <a:latin typeface="Cambria Math" panose="02040503050406030204" pitchFamily="18" charset="0"/>
                        </a:rPr>
                        <m:t>𝑆</m:t>
                      </m:r>
                      <m:r>
                        <a:rPr lang="en-US" altLang="zh-CN" b="0" i="1" smtClean="0">
                          <a:latin typeface="Cambria Math" panose="02040503050406030204" pitchFamily="18" charset="0"/>
                        </a:rPr>
                        <m:t>2,</m:t>
                      </m:r>
                      <m:r>
                        <a:rPr lang="en-US" altLang="zh-CN" b="0" i="1" smtClean="0">
                          <a:latin typeface="Cambria Math" panose="02040503050406030204" pitchFamily="18" charset="0"/>
                        </a:rPr>
                        <m:t>𝑆</m:t>
                      </m:r>
                      <m:r>
                        <a:rPr lang="en-US" altLang="zh-CN" b="0" i="1" smtClean="0">
                          <a:latin typeface="Cambria Math" panose="02040503050406030204" pitchFamily="18" charset="0"/>
                        </a:rPr>
                        <m:t>3,</m:t>
                      </m:r>
                      <m:r>
                        <a:rPr lang="en-US" altLang="zh-CN" b="0" i="1" smtClean="0">
                          <a:latin typeface="Cambria Math" panose="02040503050406030204" pitchFamily="18" charset="0"/>
                        </a:rPr>
                        <m:t>𝑆</m:t>
                      </m:r>
                      <m:r>
                        <a:rPr lang="en-US" altLang="zh-CN" b="0" i="1" smtClean="0">
                          <a:latin typeface="Cambria Math" panose="02040503050406030204" pitchFamily="18" charset="0"/>
                        </a:rPr>
                        <m:t>4]</m:t>
                      </m:r>
                    </m:oMath>
                  </m:oMathPara>
                </a14:m>
                <a:endParaRPr lang="zh-CN" altLang="en-US" dirty="0"/>
              </a:p>
            </p:txBody>
          </p:sp>
        </mc:Choice>
        <mc:Fallback>
          <p:sp>
            <p:nvSpPr>
              <p:cNvPr id="28" name="文本框 27">
                <a:extLst>
                  <a:ext uri="{FF2B5EF4-FFF2-40B4-BE49-F238E27FC236}">
                    <a16:creationId xmlns:a16="http://schemas.microsoft.com/office/drawing/2014/main" id="{0C4B1BD4-27BD-3AB4-3C80-A291AA43BDAF}"/>
                  </a:ext>
                </a:extLst>
              </p:cNvPr>
              <p:cNvSpPr txBox="1">
                <a:spLocks noRot="1" noChangeAspect="1" noMove="1" noResize="1" noEditPoints="1" noAdjustHandles="1" noChangeArrowheads="1" noChangeShapeType="1" noTextEdit="1"/>
              </p:cNvSpPr>
              <p:nvPr/>
            </p:nvSpPr>
            <p:spPr>
              <a:xfrm>
                <a:off x="3359362" y="6068302"/>
                <a:ext cx="1819409" cy="276999"/>
              </a:xfrm>
              <a:prstGeom prst="rect">
                <a:avLst/>
              </a:prstGeom>
              <a:blipFill>
                <a:blip r:embed="rId6"/>
                <a:stretch>
                  <a:fillRect l="-3679" t="-2174" r="-4013" b="-36957"/>
                </a:stretch>
              </a:blipFill>
            </p:spPr>
            <p:txBody>
              <a:bodyPr/>
              <a:lstStyle/>
              <a:p>
                <a:r>
                  <a:rPr lang="zh-CN" altLang="en-US">
                    <a:noFill/>
                  </a:rPr>
                  <a:t> </a:t>
                </a:r>
              </a:p>
            </p:txBody>
          </p:sp>
        </mc:Fallback>
      </mc:AlternateContent>
      <p:sp>
        <p:nvSpPr>
          <p:cNvPr id="29" name="箭头: 右 28">
            <a:extLst>
              <a:ext uri="{FF2B5EF4-FFF2-40B4-BE49-F238E27FC236}">
                <a16:creationId xmlns:a16="http://schemas.microsoft.com/office/drawing/2014/main" id="{154EDC94-A23B-5587-1E62-0E090AD27917}"/>
              </a:ext>
            </a:extLst>
          </p:cNvPr>
          <p:cNvSpPr/>
          <p:nvPr/>
        </p:nvSpPr>
        <p:spPr>
          <a:xfrm>
            <a:off x="5379058" y="5976667"/>
            <a:ext cx="382642" cy="460268"/>
          </a:xfrm>
          <a:prstGeom prst="right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30" name="文本框 29">
                <a:extLst>
                  <a:ext uri="{FF2B5EF4-FFF2-40B4-BE49-F238E27FC236}">
                    <a16:creationId xmlns:a16="http://schemas.microsoft.com/office/drawing/2014/main" id="{022AF6BC-026F-8CA9-0DAC-DC606365BD5C}"/>
                  </a:ext>
                </a:extLst>
              </p:cNvPr>
              <p:cNvSpPr txBox="1"/>
              <p:nvPr/>
            </p:nvSpPr>
            <p:spPr>
              <a:xfrm>
                <a:off x="5956183" y="6067420"/>
                <a:ext cx="2173352"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r>
                        <a:rPr lang="en-US" altLang="zh-CN" b="0" i="1" smtClean="0">
                          <a:latin typeface="Cambria Math" panose="02040503050406030204" pitchFamily="18" charset="0"/>
                        </a:rPr>
                        <m:t>𝐸𝑎𝑟𝑙𝑦</m:t>
                      </m:r>
                      <m:r>
                        <a:rPr lang="en-US" altLang="zh-CN" b="0" i="1" smtClean="0">
                          <a:latin typeface="Cambria Math" panose="02040503050406030204" pitchFamily="18" charset="0"/>
                        </a:rPr>
                        <m:t>,</m:t>
                      </m:r>
                      <m:r>
                        <a:rPr lang="en-US" altLang="zh-CN" b="0" i="1" smtClean="0">
                          <a:latin typeface="Cambria Math" panose="02040503050406030204" pitchFamily="18" charset="0"/>
                        </a:rPr>
                        <m:t>𝑀𝑖𝑑𝑑𝑙𝑒</m:t>
                      </m:r>
                      <m:r>
                        <a:rPr lang="en-US" altLang="zh-CN" b="0" i="1" smtClean="0">
                          <a:latin typeface="Cambria Math" panose="02040503050406030204" pitchFamily="18" charset="0"/>
                        </a:rPr>
                        <m:t>,</m:t>
                      </m:r>
                      <m:r>
                        <a:rPr lang="en-US" altLang="zh-CN" b="0" i="1" smtClean="0">
                          <a:latin typeface="Cambria Math" panose="02040503050406030204" pitchFamily="18" charset="0"/>
                        </a:rPr>
                        <m:t>𝐿𝑎𝑡𝑒</m:t>
                      </m:r>
                      <m:r>
                        <a:rPr lang="en-US" altLang="zh-CN" b="0" i="1" smtClean="0">
                          <a:latin typeface="Cambria Math" panose="02040503050406030204" pitchFamily="18" charset="0"/>
                        </a:rPr>
                        <m:t>]</m:t>
                      </m:r>
                    </m:oMath>
                  </m:oMathPara>
                </a14:m>
                <a:endParaRPr lang="zh-CN" altLang="en-US" dirty="0"/>
              </a:p>
            </p:txBody>
          </p:sp>
        </mc:Choice>
        <mc:Fallback>
          <p:sp>
            <p:nvSpPr>
              <p:cNvPr id="30" name="文本框 29">
                <a:extLst>
                  <a:ext uri="{FF2B5EF4-FFF2-40B4-BE49-F238E27FC236}">
                    <a16:creationId xmlns:a16="http://schemas.microsoft.com/office/drawing/2014/main" id="{022AF6BC-026F-8CA9-0DAC-DC606365BD5C}"/>
                  </a:ext>
                </a:extLst>
              </p:cNvPr>
              <p:cNvSpPr txBox="1">
                <a:spLocks noRot="1" noChangeAspect="1" noMove="1" noResize="1" noEditPoints="1" noAdjustHandles="1" noChangeArrowheads="1" noChangeShapeType="1" noTextEdit="1"/>
              </p:cNvSpPr>
              <p:nvPr/>
            </p:nvSpPr>
            <p:spPr>
              <a:xfrm>
                <a:off x="5956183" y="6067420"/>
                <a:ext cx="2173352" cy="276999"/>
              </a:xfrm>
              <a:prstGeom prst="rect">
                <a:avLst/>
              </a:prstGeom>
              <a:blipFill>
                <a:blip r:embed="rId7"/>
                <a:stretch>
                  <a:fillRect l="-3081" t="-2174" r="-3361" b="-36957"/>
                </a:stretch>
              </a:blipFill>
            </p:spPr>
            <p:txBody>
              <a:bodyPr/>
              <a:lstStyle/>
              <a:p>
                <a:r>
                  <a:rPr lang="zh-CN" altLang="en-US">
                    <a:noFill/>
                  </a:rPr>
                  <a:t> </a:t>
                </a:r>
              </a:p>
            </p:txBody>
          </p:sp>
        </mc:Fallback>
      </mc:AlternateContent>
      <p:sp>
        <p:nvSpPr>
          <p:cNvPr id="36" name="文本框 35">
            <a:extLst>
              <a:ext uri="{FF2B5EF4-FFF2-40B4-BE49-F238E27FC236}">
                <a16:creationId xmlns:a16="http://schemas.microsoft.com/office/drawing/2014/main" id="{9A10124B-63DA-534E-AF31-B73084010EA4}"/>
              </a:ext>
            </a:extLst>
          </p:cNvPr>
          <p:cNvSpPr txBox="1"/>
          <p:nvPr/>
        </p:nvSpPr>
        <p:spPr>
          <a:xfrm>
            <a:off x="151309" y="1370389"/>
            <a:ext cx="3423502" cy="1200329"/>
          </a:xfrm>
          <a:prstGeom prst="rect">
            <a:avLst/>
          </a:prstGeom>
          <a:noFill/>
        </p:spPr>
        <p:txBody>
          <a:bodyPr wrap="square" rtlCol="0">
            <a:spAutoFit/>
          </a:bodyPr>
          <a:lstStyle/>
          <a:p>
            <a:pPr algn="ctr"/>
            <a:r>
              <a:rPr lang="zh-CN" altLang="en-US" b="1" dirty="0">
                <a:latin typeface="宋体" panose="02010600030101010101" pitchFamily="2" charset="-122"/>
                <a:ea typeface="宋体" panose="02010600030101010101" pitchFamily="2" charset="-122"/>
                <a:cs typeface="Times New Roman" panose="02020603050405020304" pitchFamily="18" charset="0"/>
              </a:rPr>
              <a:t>依靠传感信号</a:t>
            </a:r>
            <a:endParaRPr lang="en-US" altLang="zh-CN" b="1" dirty="0">
              <a:latin typeface="宋体" panose="02010600030101010101" pitchFamily="2" charset="-122"/>
              <a:ea typeface="宋体" panose="02010600030101010101" pitchFamily="2" charset="-122"/>
              <a:cs typeface="Times New Roman" panose="02020603050405020304" pitchFamily="18" charset="0"/>
            </a:endParaRPr>
          </a:p>
          <a:p>
            <a:pPr algn="ctr"/>
            <a:r>
              <a:rPr lang="zh-CN" altLang="en-US" dirty="0">
                <a:latin typeface="宋体" panose="02010600030101010101" pitchFamily="2" charset="-122"/>
                <a:ea typeface="宋体" panose="02010600030101010101" pitchFamily="2" charset="-122"/>
                <a:cs typeface="Times New Roman" panose="02020603050405020304" pitchFamily="18" charset="0"/>
              </a:rPr>
              <a:t>会因为瞬时</a:t>
            </a:r>
            <a:r>
              <a:rPr lang="zh-CN" altLang="zh-CN" dirty="0">
                <a:latin typeface="宋体" panose="02010600030101010101" pitchFamily="2" charset="-122"/>
                <a:ea typeface="宋体" panose="02010600030101010101" pitchFamily="2" charset="-122"/>
              </a:rPr>
              <a:t>振动突然变大、切削冲击或者跨工况信号变化</a:t>
            </a:r>
            <a:r>
              <a:rPr lang="zh-CN" altLang="en-US" dirty="0">
                <a:latin typeface="宋体" panose="02010600030101010101" pitchFamily="2" charset="-122"/>
                <a:ea typeface="宋体" panose="02010600030101010101" pitchFamily="2" charset="-122"/>
              </a:rPr>
              <a:t>等使其造成误判</a:t>
            </a:r>
            <a:endParaRPr lang="zh-CN" altLang="en-US" dirty="0">
              <a:latin typeface="宋体" panose="02010600030101010101" pitchFamily="2" charset="-122"/>
              <a:ea typeface="宋体" panose="02010600030101010101" pitchFamily="2" charset="-122"/>
              <a:cs typeface="Times New Roman" panose="02020603050405020304" pitchFamily="18" charset="0"/>
            </a:endParaRPr>
          </a:p>
        </p:txBody>
      </p:sp>
      <p:sp>
        <p:nvSpPr>
          <p:cNvPr id="37" name="文本框 36">
            <a:extLst>
              <a:ext uri="{FF2B5EF4-FFF2-40B4-BE49-F238E27FC236}">
                <a16:creationId xmlns:a16="http://schemas.microsoft.com/office/drawing/2014/main" id="{96AA90EA-F494-0023-6B3D-598E54EA354B}"/>
              </a:ext>
            </a:extLst>
          </p:cNvPr>
          <p:cNvSpPr txBox="1"/>
          <p:nvPr/>
        </p:nvSpPr>
        <p:spPr>
          <a:xfrm>
            <a:off x="8627710" y="1532967"/>
            <a:ext cx="3037416" cy="646331"/>
          </a:xfrm>
          <a:prstGeom prst="rect">
            <a:avLst/>
          </a:prstGeom>
          <a:noFill/>
        </p:spPr>
        <p:txBody>
          <a:bodyPr wrap="square" rtlCol="0">
            <a:spAutoFit/>
          </a:bodyPr>
          <a:lstStyle/>
          <a:p>
            <a:pPr algn="ctr"/>
            <a:r>
              <a:rPr lang="zh-CN" altLang="en-US" dirty="0">
                <a:latin typeface="宋体" panose="02010600030101010101" pitchFamily="2" charset="-122"/>
                <a:ea typeface="宋体" panose="02010600030101010101" pitchFamily="2" charset="-122"/>
                <a:cs typeface="Times New Roman" panose="02020603050405020304" pitchFamily="18" charset="0"/>
              </a:rPr>
              <a:t>从刀具的整体寿命周期的宏观视角去看当前阶段</a:t>
            </a:r>
          </a:p>
        </p:txBody>
      </p:sp>
      <p:sp>
        <p:nvSpPr>
          <p:cNvPr id="38" name="文本框 37">
            <a:extLst>
              <a:ext uri="{FF2B5EF4-FFF2-40B4-BE49-F238E27FC236}">
                <a16:creationId xmlns:a16="http://schemas.microsoft.com/office/drawing/2014/main" id="{588FABA7-C4F8-8244-2665-58D831003E01}"/>
              </a:ext>
            </a:extLst>
          </p:cNvPr>
          <p:cNvSpPr txBox="1"/>
          <p:nvPr/>
        </p:nvSpPr>
        <p:spPr>
          <a:xfrm>
            <a:off x="3635641" y="1423128"/>
            <a:ext cx="3423502" cy="1200329"/>
          </a:xfrm>
          <a:prstGeom prst="rect">
            <a:avLst/>
          </a:prstGeom>
          <a:noFill/>
        </p:spPr>
        <p:txBody>
          <a:bodyPr wrap="square" rtlCol="0">
            <a:spAutoFit/>
          </a:bodyPr>
          <a:lstStyle/>
          <a:p>
            <a:pPr algn="ctr"/>
            <a:r>
              <a:rPr lang="zh-CN" altLang="en-US" b="1" dirty="0">
                <a:latin typeface="宋体" panose="02010600030101010101" pitchFamily="2" charset="-122"/>
                <a:ea typeface="宋体" panose="02010600030101010101" pitchFamily="2" charset="-122"/>
                <a:cs typeface="Times New Roman" panose="02020603050405020304" pitchFamily="18" charset="0"/>
              </a:rPr>
              <a:t>划分细粒度状态</a:t>
            </a:r>
            <a:endParaRPr lang="en-US" altLang="zh-CN" b="1" dirty="0">
              <a:latin typeface="宋体" panose="02010600030101010101" pitchFamily="2" charset="-122"/>
              <a:ea typeface="宋体" panose="02010600030101010101" pitchFamily="2" charset="-122"/>
              <a:cs typeface="Times New Roman" panose="02020603050405020304" pitchFamily="18" charset="0"/>
            </a:endParaRPr>
          </a:p>
          <a:p>
            <a:pPr algn="ctr"/>
            <a:r>
              <a:rPr lang="zh-CN" altLang="en-US" dirty="0">
                <a:latin typeface="宋体" panose="02010600030101010101" pitchFamily="2" charset="-122"/>
                <a:ea typeface="宋体" panose="02010600030101010101" pitchFamily="2" charset="-122"/>
                <a:cs typeface="Times New Roman" panose="02020603050405020304" pitchFamily="18" charset="0"/>
              </a:rPr>
              <a:t>会因为瞬时</a:t>
            </a:r>
            <a:r>
              <a:rPr lang="zh-CN" altLang="zh-CN" dirty="0">
                <a:latin typeface="宋体" panose="02010600030101010101" pitchFamily="2" charset="-122"/>
                <a:ea typeface="宋体" panose="02010600030101010101" pitchFamily="2" charset="-122"/>
              </a:rPr>
              <a:t>振动突然变大、切削冲击或者跨工况信号变化</a:t>
            </a:r>
            <a:r>
              <a:rPr lang="zh-CN" altLang="en-US" dirty="0">
                <a:latin typeface="宋体" panose="02010600030101010101" pitchFamily="2" charset="-122"/>
                <a:ea typeface="宋体" panose="02010600030101010101" pitchFamily="2" charset="-122"/>
              </a:rPr>
              <a:t>等使其造成误判</a:t>
            </a:r>
            <a:endParaRPr lang="zh-CN" altLang="en-US" dirty="0">
              <a:latin typeface="宋体" panose="02010600030101010101" pitchFamily="2" charset="-122"/>
              <a:ea typeface="宋体" panose="02010600030101010101" pitchFamily="2" charset="-122"/>
              <a:cs typeface="Times New Roman" panose="02020603050405020304" pitchFamily="18" charset="0"/>
            </a:endParaRPr>
          </a:p>
        </p:txBody>
      </p:sp>
      <p:sp>
        <p:nvSpPr>
          <p:cNvPr id="39" name="文本框 38">
            <a:extLst>
              <a:ext uri="{FF2B5EF4-FFF2-40B4-BE49-F238E27FC236}">
                <a16:creationId xmlns:a16="http://schemas.microsoft.com/office/drawing/2014/main" id="{3E0F5097-DBDA-39E4-CF5F-CAECBA18B1BE}"/>
              </a:ext>
            </a:extLst>
          </p:cNvPr>
          <p:cNvSpPr txBox="1"/>
          <p:nvPr/>
        </p:nvSpPr>
        <p:spPr>
          <a:xfrm>
            <a:off x="4358278" y="2804057"/>
            <a:ext cx="2509020"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形成第二套</a:t>
            </a:r>
            <a:r>
              <a:rPr lang="zh-CN" altLang="en-US"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三阶段判断</a:t>
            </a:r>
            <a:endParaRPr lang="zh-CN" altLang="en-US"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40" name="图片 39">
            <a:extLst>
              <a:ext uri="{FF2B5EF4-FFF2-40B4-BE49-F238E27FC236}">
                <a16:creationId xmlns:a16="http://schemas.microsoft.com/office/drawing/2014/main" id="{AB10EAD6-730C-55C2-EDCB-62F6B7E9CC08}"/>
              </a:ext>
            </a:extLst>
          </p:cNvPr>
          <p:cNvPicPr>
            <a:picLocks noChangeAspect="1"/>
          </p:cNvPicPr>
          <p:nvPr/>
        </p:nvPicPr>
        <p:blipFill>
          <a:blip r:embed="rId8"/>
          <a:stretch>
            <a:fillRect/>
          </a:stretch>
        </p:blipFill>
        <p:spPr>
          <a:xfrm>
            <a:off x="6882532" y="2796765"/>
            <a:ext cx="565179" cy="419122"/>
          </a:xfrm>
          <a:prstGeom prst="rect">
            <a:avLst/>
          </a:prstGeom>
        </p:spPr>
      </p:pic>
    </p:spTree>
    <p:extLst>
      <p:ext uri="{BB962C8B-B14F-4D97-AF65-F5344CB8AC3E}">
        <p14:creationId xmlns:p14="http://schemas.microsoft.com/office/powerpoint/2010/main" val="29519235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08F484-E9F6-F48E-DC90-DE982A16E62D}"/>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0073E87E-87EC-45ED-6F45-3F4A993CA08B}"/>
              </a:ext>
            </a:extLst>
          </p:cNvPr>
          <p:cNvPicPr>
            <a:picLocks noChangeAspect="1"/>
          </p:cNvPicPr>
          <p:nvPr/>
        </p:nvPicPr>
        <p:blipFill>
          <a:blip r:embed="rId2"/>
          <a:stretch>
            <a:fillRect/>
          </a:stretch>
        </p:blipFill>
        <p:spPr>
          <a:xfrm>
            <a:off x="1594597" y="609352"/>
            <a:ext cx="482625" cy="361969"/>
          </a:xfrm>
          <a:prstGeom prst="rect">
            <a:avLst/>
          </a:prstGeom>
        </p:spPr>
      </p:pic>
      <p:pic>
        <p:nvPicPr>
          <p:cNvPr id="5" name="图片 4">
            <a:extLst>
              <a:ext uri="{FF2B5EF4-FFF2-40B4-BE49-F238E27FC236}">
                <a16:creationId xmlns:a16="http://schemas.microsoft.com/office/drawing/2014/main" id="{45CC694A-3234-CF60-516B-AE37AF6183F3}"/>
              </a:ext>
            </a:extLst>
          </p:cNvPr>
          <p:cNvPicPr>
            <a:picLocks noChangeAspect="1"/>
          </p:cNvPicPr>
          <p:nvPr/>
        </p:nvPicPr>
        <p:blipFill>
          <a:blip r:embed="rId3"/>
          <a:stretch>
            <a:fillRect/>
          </a:stretch>
        </p:blipFill>
        <p:spPr>
          <a:xfrm>
            <a:off x="5602576" y="570085"/>
            <a:ext cx="406421" cy="361969"/>
          </a:xfrm>
          <a:prstGeom prst="rect">
            <a:avLst/>
          </a:prstGeom>
        </p:spPr>
      </p:pic>
      <p:pic>
        <p:nvPicPr>
          <p:cNvPr id="6" name="图片 5">
            <a:extLst>
              <a:ext uri="{FF2B5EF4-FFF2-40B4-BE49-F238E27FC236}">
                <a16:creationId xmlns:a16="http://schemas.microsoft.com/office/drawing/2014/main" id="{259CA2A1-1617-F68F-67A8-F6BE15CF6A45}"/>
              </a:ext>
            </a:extLst>
          </p:cNvPr>
          <p:cNvPicPr>
            <a:picLocks noChangeAspect="1"/>
          </p:cNvPicPr>
          <p:nvPr/>
        </p:nvPicPr>
        <p:blipFill>
          <a:blip r:embed="rId4"/>
          <a:stretch>
            <a:fillRect/>
          </a:stretch>
        </p:blipFill>
        <p:spPr>
          <a:xfrm>
            <a:off x="9996433" y="611061"/>
            <a:ext cx="342918" cy="349268"/>
          </a:xfrm>
          <a:prstGeom prst="rect">
            <a:avLst/>
          </a:prstGeom>
        </p:spPr>
      </p:pic>
      <p:sp>
        <p:nvSpPr>
          <p:cNvPr id="7" name="矩形 6">
            <a:extLst>
              <a:ext uri="{FF2B5EF4-FFF2-40B4-BE49-F238E27FC236}">
                <a16:creationId xmlns:a16="http://schemas.microsoft.com/office/drawing/2014/main" id="{5A0A6353-8E7F-323D-D985-D0E1E3BC7E0A}"/>
              </a:ext>
            </a:extLst>
          </p:cNvPr>
          <p:cNvSpPr/>
          <p:nvPr/>
        </p:nvSpPr>
        <p:spPr>
          <a:xfrm>
            <a:off x="1433549" y="535805"/>
            <a:ext cx="838200" cy="5397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2ECE11A1-DEB1-1BA0-1429-F2677AC5C20B}"/>
              </a:ext>
            </a:extLst>
          </p:cNvPr>
          <p:cNvSpPr/>
          <p:nvPr/>
        </p:nvSpPr>
        <p:spPr>
          <a:xfrm>
            <a:off x="5375327" y="496538"/>
            <a:ext cx="838200" cy="5397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89A71B5B-9869-8AC2-F14F-AE0CDF6DFFD7}"/>
              </a:ext>
            </a:extLst>
          </p:cNvPr>
          <p:cNvSpPr/>
          <p:nvPr/>
        </p:nvSpPr>
        <p:spPr>
          <a:xfrm>
            <a:off x="9748792" y="515820"/>
            <a:ext cx="838200" cy="5397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a:extLst>
              <a:ext uri="{FF2B5EF4-FFF2-40B4-BE49-F238E27FC236}">
                <a16:creationId xmlns:a16="http://schemas.microsoft.com/office/drawing/2014/main" id="{9BD8039B-377A-04BC-0E3F-ECD0A37B08A9}"/>
              </a:ext>
            </a:extLst>
          </p:cNvPr>
          <p:cNvSpPr txBox="1"/>
          <p:nvPr/>
        </p:nvSpPr>
        <p:spPr>
          <a:xfrm>
            <a:off x="1189274" y="102714"/>
            <a:ext cx="1338828" cy="369332"/>
          </a:xfrm>
          <a:prstGeom prst="rect">
            <a:avLst/>
          </a:prstGeom>
          <a:noFill/>
        </p:spPr>
        <p:txBody>
          <a:bodyPr wrap="none" rtlCol="0">
            <a:spAutoFit/>
          </a:bodyPr>
          <a:lstStyle/>
          <a:p>
            <a:r>
              <a:rPr lang="zh-CN" altLang="en-US" dirty="0">
                <a:latin typeface="Times New Roman" panose="02020603050405020304" pitchFamily="18" charset="0"/>
                <a:ea typeface="宋体" panose="02010600030101010101" pitchFamily="2" charset="-122"/>
                <a:cs typeface="Times New Roman" panose="02020603050405020304" pitchFamily="18" charset="0"/>
              </a:rPr>
              <a:t>大阶段分类</a:t>
            </a:r>
          </a:p>
        </p:txBody>
      </p:sp>
      <p:sp>
        <p:nvSpPr>
          <p:cNvPr id="20" name="文本框 19">
            <a:extLst>
              <a:ext uri="{FF2B5EF4-FFF2-40B4-BE49-F238E27FC236}">
                <a16:creationId xmlns:a16="http://schemas.microsoft.com/office/drawing/2014/main" id="{4BDDE592-04BA-E6C2-C8BA-135B0E6D53F1}"/>
              </a:ext>
            </a:extLst>
          </p:cNvPr>
          <p:cNvSpPr txBox="1"/>
          <p:nvPr/>
        </p:nvSpPr>
        <p:spPr>
          <a:xfrm>
            <a:off x="4185421" y="62254"/>
            <a:ext cx="3647152" cy="369332"/>
          </a:xfrm>
          <a:prstGeom prst="rect">
            <a:avLst/>
          </a:prstGeom>
          <a:noFill/>
        </p:spPr>
        <p:txBody>
          <a:bodyPr wrap="none" rtlCol="0">
            <a:spAutoFit/>
          </a:bodyPr>
          <a:lstStyle/>
          <a:p>
            <a:r>
              <a:rPr lang="zh-CN" altLang="en-US" dirty="0">
                <a:latin typeface="Times New Roman" panose="02020603050405020304" pitchFamily="18" charset="0"/>
                <a:ea typeface="宋体" panose="02010600030101010101" pitchFamily="2" charset="-122"/>
                <a:cs typeface="Times New Roman" panose="02020603050405020304" pitchFamily="18" charset="0"/>
              </a:rPr>
              <a:t>在退化内部具体处于哪一个子状态</a:t>
            </a:r>
          </a:p>
        </p:txBody>
      </p:sp>
      <p:sp>
        <p:nvSpPr>
          <p:cNvPr id="21" name="文本框 20">
            <a:extLst>
              <a:ext uri="{FF2B5EF4-FFF2-40B4-BE49-F238E27FC236}">
                <a16:creationId xmlns:a16="http://schemas.microsoft.com/office/drawing/2014/main" id="{92802C98-9541-F758-AA8B-E9055E2E16FB}"/>
              </a:ext>
            </a:extLst>
          </p:cNvPr>
          <p:cNvSpPr txBox="1"/>
          <p:nvPr/>
        </p:nvSpPr>
        <p:spPr>
          <a:xfrm>
            <a:off x="8294789" y="89338"/>
            <a:ext cx="3647152" cy="369332"/>
          </a:xfrm>
          <a:prstGeom prst="rect">
            <a:avLst/>
          </a:prstGeom>
          <a:noFill/>
        </p:spPr>
        <p:txBody>
          <a:bodyPr wrap="none" rtlCol="0">
            <a:spAutoFit/>
          </a:bodyPr>
          <a:lstStyle/>
          <a:p>
            <a:r>
              <a:rPr lang="zh-CN" altLang="en-US" dirty="0">
                <a:latin typeface="Times New Roman" panose="02020603050405020304" pitchFamily="18" charset="0"/>
                <a:ea typeface="宋体" panose="02010600030101010101" pitchFamily="2" charset="-122"/>
                <a:cs typeface="Times New Roman" panose="02020603050405020304" pitchFamily="18" charset="0"/>
              </a:rPr>
              <a:t>当前具体在生命周期的哪一个位置</a:t>
            </a:r>
          </a:p>
        </p:txBody>
      </p:sp>
      <p:sp>
        <p:nvSpPr>
          <p:cNvPr id="22" name="矩形: 圆角 21">
            <a:extLst>
              <a:ext uri="{FF2B5EF4-FFF2-40B4-BE49-F238E27FC236}">
                <a16:creationId xmlns:a16="http://schemas.microsoft.com/office/drawing/2014/main" id="{51C9CD49-87EB-8A1F-D7EC-FC78A7F85638}"/>
              </a:ext>
            </a:extLst>
          </p:cNvPr>
          <p:cNvSpPr/>
          <p:nvPr/>
        </p:nvSpPr>
        <p:spPr>
          <a:xfrm>
            <a:off x="452164" y="2872786"/>
            <a:ext cx="5170570" cy="3897675"/>
          </a:xfrm>
          <a:prstGeom prst="roundRect">
            <a:avLst>
              <a:gd name="adj" fmla="val 5129"/>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B0C44FA4-3202-9234-0AD0-4F3C20ECEE9E}"/>
              </a:ext>
            </a:extLst>
          </p:cNvPr>
          <p:cNvSpPr txBox="1"/>
          <p:nvPr/>
        </p:nvSpPr>
        <p:spPr>
          <a:xfrm>
            <a:off x="1063176" y="3536976"/>
            <a:ext cx="4261103" cy="369332"/>
          </a:xfrm>
          <a:prstGeom prst="rect">
            <a:avLst/>
          </a:prstGeom>
          <a:noFill/>
        </p:spPr>
        <p:txBody>
          <a:bodyPr wrap="none" rtlCol="0">
            <a:spAutoFit/>
          </a:bodyPr>
          <a:lstStyle/>
          <a:p>
            <a:pPr algn="ctr"/>
            <a:r>
              <a:rPr lang="zh-CN" altLang="en-US" b="1" dirty="0">
                <a:latin typeface="Times New Roman" panose="02020603050405020304" pitchFamily="18" charset="0"/>
                <a:ea typeface="宋体" panose="02010600030101010101" pitchFamily="2" charset="-122"/>
                <a:cs typeface="Times New Roman" panose="02020603050405020304" pitchFamily="18" charset="0"/>
              </a:rPr>
              <a:t>将</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head3</a:t>
            </a:r>
            <a:r>
              <a:rPr lang="zh-CN" altLang="en-US" b="1" dirty="0">
                <a:latin typeface="Times New Roman" panose="02020603050405020304" pitchFamily="18" charset="0"/>
                <a:ea typeface="宋体" panose="02010600030101010101" pitchFamily="2" charset="-122"/>
                <a:cs typeface="Times New Roman" panose="02020603050405020304" pitchFamily="18" charset="0"/>
              </a:rPr>
              <a:t>的输出离散化到三阶段概率分类</a:t>
            </a:r>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5" name="文本框 24">
            <a:extLst>
              <a:ext uri="{FF2B5EF4-FFF2-40B4-BE49-F238E27FC236}">
                <a16:creationId xmlns:a16="http://schemas.microsoft.com/office/drawing/2014/main" id="{42455D02-AD2D-56EE-85C0-DAF97BA8A0A8}"/>
              </a:ext>
            </a:extLst>
          </p:cNvPr>
          <p:cNvSpPr txBox="1"/>
          <p:nvPr/>
        </p:nvSpPr>
        <p:spPr>
          <a:xfrm>
            <a:off x="1409275" y="1117990"/>
            <a:ext cx="886748" cy="369332"/>
          </a:xfrm>
          <a:prstGeom prst="rect">
            <a:avLst/>
          </a:prstGeom>
          <a:noFill/>
        </p:spPr>
        <p:txBody>
          <a:bodyPr wrap="square">
            <a:spAutoFit/>
          </a:bodyPr>
          <a:lstStyle/>
          <a:p>
            <a:pPr algn="ctr"/>
            <a:r>
              <a:rPr lang="en-US" altLang="zh-CN" sz="1800" b="1" dirty="0">
                <a:latin typeface="Times New Roman" panose="02020603050405020304" pitchFamily="18" charset="0"/>
                <a:ea typeface="宋体" panose="02010600030101010101" pitchFamily="2" charset="-122"/>
                <a:cs typeface="Times New Roman" panose="02020603050405020304" pitchFamily="18" charset="0"/>
              </a:rPr>
              <a:t>head1</a:t>
            </a:r>
            <a:endParaRPr lang="zh-CN" altLang="en-US" dirty="0"/>
          </a:p>
        </p:txBody>
      </p:sp>
      <p:sp>
        <p:nvSpPr>
          <p:cNvPr id="26" name="文本框 25">
            <a:extLst>
              <a:ext uri="{FF2B5EF4-FFF2-40B4-BE49-F238E27FC236}">
                <a16:creationId xmlns:a16="http://schemas.microsoft.com/office/drawing/2014/main" id="{E282DC03-BE03-C02D-7959-6B7FB34F9C36}"/>
              </a:ext>
            </a:extLst>
          </p:cNvPr>
          <p:cNvSpPr txBox="1"/>
          <p:nvPr/>
        </p:nvSpPr>
        <p:spPr>
          <a:xfrm>
            <a:off x="5375327" y="1088582"/>
            <a:ext cx="886748" cy="369332"/>
          </a:xfrm>
          <a:prstGeom prst="rect">
            <a:avLst/>
          </a:prstGeom>
          <a:noFill/>
        </p:spPr>
        <p:txBody>
          <a:bodyPr wrap="square">
            <a:spAutoFit/>
          </a:bodyPr>
          <a:lstStyle/>
          <a:p>
            <a:pPr algn="ctr"/>
            <a:r>
              <a:rPr lang="en-US" altLang="zh-CN" sz="1800" b="1" dirty="0">
                <a:latin typeface="Times New Roman" panose="02020603050405020304" pitchFamily="18" charset="0"/>
                <a:ea typeface="宋体" panose="02010600030101010101" pitchFamily="2" charset="-122"/>
                <a:cs typeface="Times New Roman" panose="02020603050405020304" pitchFamily="18" charset="0"/>
              </a:rPr>
              <a:t>head2</a:t>
            </a:r>
            <a:endParaRPr lang="zh-CN" altLang="en-US" dirty="0"/>
          </a:p>
        </p:txBody>
      </p:sp>
      <p:sp>
        <p:nvSpPr>
          <p:cNvPr id="27" name="文本框 26">
            <a:extLst>
              <a:ext uri="{FF2B5EF4-FFF2-40B4-BE49-F238E27FC236}">
                <a16:creationId xmlns:a16="http://schemas.microsoft.com/office/drawing/2014/main" id="{20E14727-8133-5B2C-9999-10B1DE61B4B1}"/>
              </a:ext>
            </a:extLst>
          </p:cNvPr>
          <p:cNvSpPr txBox="1"/>
          <p:nvPr/>
        </p:nvSpPr>
        <p:spPr>
          <a:xfrm>
            <a:off x="9748792" y="1113866"/>
            <a:ext cx="886748" cy="369332"/>
          </a:xfrm>
          <a:prstGeom prst="rect">
            <a:avLst/>
          </a:prstGeom>
          <a:noFill/>
        </p:spPr>
        <p:txBody>
          <a:bodyPr wrap="square">
            <a:spAutoFit/>
          </a:bodyPr>
          <a:lstStyle/>
          <a:p>
            <a:pPr algn="ctr"/>
            <a:r>
              <a:rPr lang="en-US" altLang="zh-CN" sz="1800" b="1" dirty="0">
                <a:latin typeface="Times New Roman" panose="02020603050405020304" pitchFamily="18" charset="0"/>
                <a:ea typeface="宋体" panose="02010600030101010101" pitchFamily="2" charset="-122"/>
                <a:cs typeface="Times New Roman" panose="02020603050405020304" pitchFamily="18" charset="0"/>
              </a:rPr>
              <a:t>head</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3</a:t>
            </a:r>
            <a:endParaRPr lang="zh-CN" altLang="en-US" dirty="0"/>
          </a:p>
        </p:txBody>
      </p:sp>
      <p:sp>
        <p:nvSpPr>
          <p:cNvPr id="31" name="文本框 30">
            <a:extLst>
              <a:ext uri="{FF2B5EF4-FFF2-40B4-BE49-F238E27FC236}">
                <a16:creationId xmlns:a16="http://schemas.microsoft.com/office/drawing/2014/main" id="{D67FFFED-B163-083D-EB8A-D55D8DC42804}"/>
              </a:ext>
            </a:extLst>
          </p:cNvPr>
          <p:cNvSpPr txBox="1"/>
          <p:nvPr/>
        </p:nvSpPr>
        <p:spPr>
          <a:xfrm>
            <a:off x="634282" y="4090974"/>
            <a:ext cx="2954655" cy="369332"/>
          </a:xfrm>
          <a:prstGeom prst="rect">
            <a:avLst/>
          </a:prstGeom>
          <a:noFill/>
        </p:spPr>
        <p:txBody>
          <a:bodyPr wrap="none" rtlCol="0">
            <a:spAutoFit/>
          </a:bodyPr>
          <a:lstStyle/>
          <a:p>
            <a:r>
              <a:rPr lang="zh-CN" altLang="en-US" dirty="0">
                <a:latin typeface="Times New Roman" panose="02020603050405020304" pitchFamily="18" charset="0"/>
                <a:ea typeface="宋体" panose="02010600030101010101" pitchFamily="2" charset="-122"/>
                <a:cs typeface="Times New Roman" panose="02020603050405020304" pitchFamily="18" charset="0"/>
              </a:rPr>
              <a:t>给三个阶段分别设置中心：</a:t>
            </a:r>
          </a:p>
        </p:txBody>
      </p:sp>
      <p:pic>
        <p:nvPicPr>
          <p:cNvPr id="32" name="图片 31">
            <a:extLst>
              <a:ext uri="{FF2B5EF4-FFF2-40B4-BE49-F238E27FC236}">
                <a16:creationId xmlns:a16="http://schemas.microsoft.com/office/drawing/2014/main" id="{4415B577-821A-98C0-A7A0-C52C7059A775}"/>
              </a:ext>
            </a:extLst>
          </p:cNvPr>
          <p:cNvPicPr>
            <a:picLocks noChangeAspect="1"/>
          </p:cNvPicPr>
          <p:nvPr/>
        </p:nvPicPr>
        <p:blipFill>
          <a:blip r:embed="rId5"/>
          <a:stretch>
            <a:fillRect/>
          </a:stretch>
        </p:blipFill>
        <p:spPr>
          <a:xfrm>
            <a:off x="3562486" y="4108651"/>
            <a:ext cx="1619333" cy="374669"/>
          </a:xfrm>
          <a:prstGeom prst="rect">
            <a:avLst/>
          </a:prstGeom>
        </p:spPr>
      </p:pic>
      <p:sp>
        <p:nvSpPr>
          <p:cNvPr id="33" name="文本框 32">
            <a:extLst>
              <a:ext uri="{FF2B5EF4-FFF2-40B4-BE49-F238E27FC236}">
                <a16:creationId xmlns:a16="http://schemas.microsoft.com/office/drawing/2014/main" id="{0DCE13BF-0AD9-156B-1F60-836DFC6C585A}"/>
              </a:ext>
            </a:extLst>
          </p:cNvPr>
          <p:cNvSpPr txBox="1"/>
          <p:nvPr/>
        </p:nvSpPr>
        <p:spPr>
          <a:xfrm>
            <a:off x="634282" y="4500997"/>
            <a:ext cx="4729397" cy="646331"/>
          </a:xfrm>
          <a:prstGeom prst="rect">
            <a:avLst/>
          </a:prstGeom>
          <a:noFill/>
        </p:spPr>
        <p:txBody>
          <a:bodyPr wrap="square" rtlCol="0">
            <a:spAutoFit/>
          </a:bodyPr>
          <a:lstStyle/>
          <a:p>
            <a:r>
              <a:rPr lang="zh-CN" altLang="zh-CN" dirty="0">
                <a:latin typeface="宋体" panose="02010600030101010101" pitchFamily="2" charset="-122"/>
                <a:ea typeface="宋体" panose="02010600030101010101" pitchFamily="2" charset="-122"/>
              </a:rPr>
              <a:t>然后用一个高斯形状衡量当前</a:t>
            </a:r>
            <a:r>
              <a:rPr lang="zh-CN" altLang="en-US" dirty="0">
                <a:latin typeface="宋体" panose="02010600030101010101" pitchFamily="2" charset="-122"/>
                <a:ea typeface="宋体" panose="02010600030101010101" pitchFamily="2" charset="-122"/>
              </a:rPr>
              <a:t>相对退化位置与三个中心的距离：</a:t>
            </a:r>
            <a:endParaRPr lang="zh-CN" altLang="en-US" dirty="0">
              <a:latin typeface="宋体" panose="02010600030101010101" pitchFamily="2" charset="-122"/>
              <a:ea typeface="宋体" panose="02010600030101010101" pitchFamily="2" charset="-122"/>
              <a:cs typeface="Times New Roman" panose="02020603050405020304" pitchFamily="18" charset="0"/>
            </a:endParaRPr>
          </a:p>
        </p:txBody>
      </p:sp>
      <p:pic>
        <p:nvPicPr>
          <p:cNvPr id="34" name="图片 33">
            <a:extLst>
              <a:ext uri="{FF2B5EF4-FFF2-40B4-BE49-F238E27FC236}">
                <a16:creationId xmlns:a16="http://schemas.microsoft.com/office/drawing/2014/main" id="{7C160F08-775B-A2EA-73AB-DD6C62099906}"/>
              </a:ext>
            </a:extLst>
          </p:cNvPr>
          <p:cNvPicPr>
            <a:picLocks noChangeAspect="1"/>
          </p:cNvPicPr>
          <p:nvPr/>
        </p:nvPicPr>
        <p:blipFill>
          <a:blip r:embed="rId6"/>
          <a:stretch>
            <a:fillRect/>
          </a:stretch>
        </p:blipFill>
        <p:spPr>
          <a:xfrm>
            <a:off x="885744" y="5188019"/>
            <a:ext cx="4438878" cy="635033"/>
          </a:xfrm>
          <a:prstGeom prst="rect">
            <a:avLst/>
          </a:prstGeom>
        </p:spPr>
      </p:pic>
      <p:sp>
        <p:nvSpPr>
          <p:cNvPr id="35" name="文本框 34">
            <a:extLst>
              <a:ext uri="{FF2B5EF4-FFF2-40B4-BE49-F238E27FC236}">
                <a16:creationId xmlns:a16="http://schemas.microsoft.com/office/drawing/2014/main" id="{4A4DF879-39E7-F4C0-873F-BABEBF77982E}"/>
              </a:ext>
            </a:extLst>
          </p:cNvPr>
          <p:cNvSpPr txBox="1"/>
          <p:nvPr/>
        </p:nvSpPr>
        <p:spPr>
          <a:xfrm>
            <a:off x="594882" y="5847654"/>
            <a:ext cx="4967080" cy="369332"/>
          </a:xfrm>
          <a:prstGeom prst="rect">
            <a:avLst/>
          </a:prstGeom>
          <a:noFill/>
        </p:spPr>
        <p:txBody>
          <a:bodyPr wrap="square" rtlCol="0">
            <a:spAutoFit/>
          </a:bodyPr>
          <a:lstStyle/>
          <a:p>
            <a:r>
              <a:rPr lang="zh-CN" altLang="en-US" dirty="0">
                <a:latin typeface="宋体" panose="02010600030101010101" pitchFamily="2" charset="-122"/>
                <a:ea typeface="宋体" panose="02010600030101010101" pitchFamily="2" charset="-122"/>
                <a:cs typeface="Times New Roman" panose="02020603050405020304" pitchFamily="18" charset="0"/>
              </a:rPr>
              <a:t>得到三个阶段的支持度，以形成</a:t>
            </a:r>
            <a:r>
              <a:rPr lang="zh-CN" altLang="en-US" b="1" dirty="0">
                <a:solidFill>
                  <a:srgbClr val="FF0000"/>
                </a:solidFill>
                <a:latin typeface="宋体" panose="02010600030101010101" pitchFamily="2" charset="-122"/>
                <a:ea typeface="宋体" panose="02010600030101010101" pitchFamily="2" charset="-122"/>
                <a:cs typeface="Times New Roman" panose="02020603050405020304" pitchFamily="18" charset="0"/>
              </a:rPr>
              <a:t>退化位置先验</a:t>
            </a:r>
          </a:p>
        </p:txBody>
      </p:sp>
      <p:sp>
        <p:nvSpPr>
          <p:cNvPr id="36" name="文本框 35">
            <a:extLst>
              <a:ext uri="{FF2B5EF4-FFF2-40B4-BE49-F238E27FC236}">
                <a16:creationId xmlns:a16="http://schemas.microsoft.com/office/drawing/2014/main" id="{45865A4B-C8FC-9BC6-6D1C-7B523F622A76}"/>
              </a:ext>
            </a:extLst>
          </p:cNvPr>
          <p:cNvSpPr txBox="1"/>
          <p:nvPr/>
        </p:nvSpPr>
        <p:spPr>
          <a:xfrm>
            <a:off x="140898" y="1420059"/>
            <a:ext cx="3423502" cy="1200329"/>
          </a:xfrm>
          <a:prstGeom prst="rect">
            <a:avLst/>
          </a:prstGeom>
          <a:noFill/>
        </p:spPr>
        <p:txBody>
          <a:bodyPr wrap="square" rtlCol="0">
            <a:spAutoFit/>
          </a:bodyPr>
          <a:lstStyle/>
          <a:p>
            <a:pPr algn="ctr"/>
            <a:r>
              <a:rPr lang="zh-CN" altLang="en-US" b="1" dirty="0">
                <a:latin typeface="宋体" panose="02010600030101010101" pitchFamily="2" charset="-122"/>
                <a:ea typeface="宋体" panose="02010600030101010101" pitchFamily="2" charset="-122"/>
                <a:cs typeface="Times New Roman" panose="02020603050405020304" pitchFamily="18" charset="0"/>
              </a:rPr>
              <a:t>传感器直接判别</a:t>
            </a:r>
            <a:endParaRPr lang="en-US" altLang="zh-CN" b="1" dirty="0">
              <a:latin typeface="宋体" panose="02010600030101010101" pitchFamily="2" charset="-122"/>
              <a:ea typeface="宋体" panose="02010600030101010101" pitchFamily="2" charset="-122"/>
              <a:cs typeface="Times New Roman" panose="02020603050405020304" pitchFamily="18" charset="0"/>
            </a:endParaRPr>
          </a:p>
          <a:p>
            <a:pPr algn="ctr"/>
            <a:r>
              <a:rPr lang="zh-CN" altLang="en-US" dirty="0">
                <a:latin typeface="宋体" panose="02010600030101010101" pitchFamily="2" charset="-122"/>
                <a:ea typeface="宋体" panose="02010600030101010101" pitchFamily="2" charset="-122"/>
                <a:cs typeface="Times New Roman" panose="02020603050405020304" pitchFamily="18" charset="0"/>
              </a:rPr>
              <a:t>会因为瞬时</a:t>
            </a:r>
            <a:r>
              <a:rPr lang="zh-CN" altLang="zh-CN" dirty="0">
                <a:latin typeface="宋体" panose="02010600030101010101" pitchFamily="2" charset="-122"/>
                <a:ea typeface="宋体" panose="02010600030101010101" pitchFamily="2" charset="-122"/>
              </a:rPr>
              <a:t>振动突然变大、切削冲击或者跨工况信号变化</a:t>
            </a:r>
            <a:r>
              <a:rPr lang="zh-CN" altLang="en-US" dirty="0">
                <a:latin typeface="宋体" panose="02010600030101010101" pitchFamily="2" charset="-122"/>
                <a:ea typeface="宋体" panose="02010600030101010101" pitchFamily="2" charset="-122"/>
              </a:rPr>
              <a:t>等使其造成误判</a:t>
            </a:r>
            <a:endParaRPr lang="zh-CN" altLang="en-US" dirty="0">
              <a:latin typeface="宋体" panose="02010600030101010101" pitchFamily="2" charset="-122"/>
              <a:ea typeface="宋体" panose="02010600030101010101" pitchFamily="2" charset="-122"/>
              <a:cs typeface="Times New Roman" panose="02020603050405020304" pitchFamily="18" charset="0"/>
            </a:endParaRPr>
          </a:p>
        </p:txBody>
      </p:sp>
      <p:sp>
        <p:nvSpPr>
          <p:cNvPr id="37" name="文本框 36">
            <a:extLst>
              <a:ext uri="{FF2B5EF4-FFF2-40B4-BE49-F238E27FC236}">
                <a16:creationId xmlns:a16="http://schemas.microsoft.com/office/drawing/2014/main" id="{76CA1564-79AB-CE63-0EA8-48BAC1BE78A3}"/>
              </a:ext>
            </a:extLst>
          </p:cNvPr>
          <p:cNvSpPr txBox="1"/>
          <p:nvPr/>
        </p:nvSpPr>
        <p:spPr>
          <a:xfrm>
            <a:off x="8599657" y="1483198"/>
            <a:ext cx="3037416" cy="923330"/>
          </a:xfrm>
          <a:prstGeom prst="rect">
            <a:avLst/>
          </a:prstGeom>
          <a:noFill/>
        </p:spPr>
        <p:txBody>
          <a:bodyPr wrap="square" rtlCol="0">
            <a:spAutoFit/>
          </a:bodyPr>
          <a:lstStyle/>
          <a:p>
            <a:pPr algn="ctr"/>
            <a:r>
              <a:rPr lang="zh-CN" altLang="en-US" b="1" dirty="0">
                <a:latin typeface="宋体" panose="02010600030101010101" pitchFamily="2" charset="-122"/>
                <a:ea typeface="宋体" panose="02010600030101010101" pitchFamily="2" charset="-122"/>
                <a:cs typeface="Times New Roman" panose="02020603050405020304" pitchFamily="18" charset="0"/>
              </a:rPr>
              <a:t>生命周期位置判别</a:t>
            </a:r>
            <a:endParaRPr lang="en-US" altLang="zh-CN" b="1" dirty="0">
              <a:latin typeface="宋体" panose="02010600030101010101" pitchFamily="2" charset="-122"/>
              <a:ea typeface="宋体" panose="02010600030101010101" pitchFamily="2" charset="-122"/>
              <a:cs typeface="Times New Roman" panose="02020603050405020304" pitchFamily="18" charset="0"/>
            </a:endParaRPr>
          </a:p>
          <a:p>
            <a:pPr algn="ctr"/>
            <a:r>
              <a:rPr lang="zh-CN" altLang="en-US" dirty="0">
                <a:latin typeface="宋体" panose="02010600030101010101" pitchFamily="2" charset="-122"/>
                <a:ea typeface="宋体" panose="02010600030101010101" pitchFamily="2" charset="-122"/>
                <a:cs typeface="Times New Roman" panose="02020603050405020304" pitchFamily="18" charset="0"/>
              </a:rPr>
              <a:t>从刀具的整体寿命周期的宏观视角去看当前阶段</a:t>
            </a:r>
          </a:p>
        </p:txBody>
      </p:sp>
      <p:sp>
        <p:nvSpPr>
          <p:cNvPr id="38" name="文本框 37">
            <a:extLst>
              <a:ext uri="{FF2B5EF4-FFF2-40B4-BE49-F238E27FC236}">
                <a16:creationId xmlns:a16="http://schemas.microsoft.com/office/drawing/2014/main" id="{68E7BBE1-E54E-68F1-D66F-3CB178A364DA}"/>
              </a:ext>
            </a:extLst>
          </p:cNvPr>
          <p:cNvSpPr txBox="1"/>
          <p:nvPr/>
        </p:nvSpPr>
        <p:spPr>
          <a:xfrm>
            <a:off x="4082676" y="1397844"/>
            <a:ext cx="3423502" cy="1200329"/>
          </a:xfrm>
          <a:prstGeom prst="rect">
            <a:avLst/>
          </a:prstGeom>
          <a:noFill/>
        </p:spPr>
        <p:txBody>
          <a:bodyPr wrap="square" rtlCol="0">
            <a:spAutoFit/>
          </a:bodyPr>
          <a:lstStyle/>
          <a:p>
            <a:pPr algn="ctr"/>
            <a:r>
              <a:rPr lang="zh-CN" altLang="en-US" b="1" dirty="0">
                <a:latin typeface="宋体" panose="02010600030101010101" pitchFamily="2" charset="-122"/>
                <a:ea typeface="宋体" panose="02010600030101010101" pitchFamily="2" charset="-122"/>
                <a:cs typeface="Times New Roman" panose="02020603050405020304" pitchFamily="18" charset="0"/>
              </a:rPr>
              <a:t>细粒度结构判别</a:t>
            </a:r>
            <a:endParaRPr lang="en-US" altLang="zh-CN" b="1" dirty="0">
              <a:latin typeface="宋体" panose="02010600030101010101" pitchFamily="2" charset="-122"/>
              <a:ea typeface="宋体" panose="02010600030101010101" pitchFamily="2" charset="-122"/>
              <a:cs typeface="Times New Roman" panose="02020603050405020304" pitchFamily="18" charset="0"/>
            </a:endParaRPr>
          </a:p>
          <a:p>
            <a:pPr algn="ctr"/>
            <a:r>
              <a:rPr lang="zh-CN" altLang="en-US" dirty="0">
                <a:latin typeface="宋体" panose="02010600030101010101" pitchFamily="2" charset="-122"/>
                <a:ea typeface="宋体" panose="02010600030101010101" pitchFamily="2" charset="-122"/>
                <a:cs typeface="Times New Roman" panose="02020603050405020304" pitchFamily="18" charset="0"/>
              </a:rPr>
              <a:t>会因为瞬时</a:t>
            </a:r>
            <a:r>
              <a:rPr lang="zh-CN" altLang="zh-CN" dirty="0">
                <a:latin typeface="宋体" panose="02010600030101010101" pitchFamily="2" charset="-122"/>
                <a:ea typeface="宋体" panose="02010600030101010101" pitchFamily="2" charset="-122"/>
              </a:rPr>
              <a:t>振动突然变大、切削冲击或者跨工况信号变化</a:t>
            </a:r>
            <a:r>
              <a:rPr lang="zh-CN" altLang="en-US" dirty="0">
                <a:latin typeface="宋体" panose="02010600030101010101" pitchFamily="2" charset="-122"/>
                <a:ea typeface="宋体" panose="02010600030101010101" pitchFamily="2" charset="-122"/>
              </a:rPr>
              <a:t>等使其造成误判</a:t>
            </a:r>
            <a:endParaRPr lang="zh-CN" altLang="en-US" dirty="0">
              <a:latin typeface="宋体" panose="02010600030101010101" pitchFamily="2" charset="-122"/>
              <a:ea typeface="宋体" panose="02010600030101010101" pitchFamily="2" charset="-122"/>
              <a:cs typeface="Times New Roman" panose="02020603050405020304" pitchFamily="18" charset="0"/>
            </a:endParaRPr>
          </a:p>
        </p:txBody>
      </p:sp>
      <p:sp>
        <p:nvSpPr>
          <p:cNvPr id="2" name="文本框 1">
            <a:extLst>
              <a:ext uri="{FF2B5EF4-FFF2-40B4-BE49-F238E27FC236}">
                <a16:creationId xmlns:a16="http://schemas.microsoft.com/office/drawing/2014/main" id="{BC557F4D-C3ED-495B-3FCB-3E50724F92E6}"/>
              </a:ext>
            </a:extLst>
          </p:cNvPr>
          <p:cNvSpPr txBox="1"/>
          <p:nvPr/>
        </p:nvSpPr>
        <p:spPr>
          <a:xfrm>
            <a:off x="1743272" y="3016610"/>
            <a:ext cx="2723823"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形成第三套的</a:t>
            </a:r>
            <a:r>
              <a:rPr lang="zh-CN" altLang="en-US"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三阶段判断</a:t>
            </a:r>
            <a:endParaRPr lang="zh-CN" altLang="en-US"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文本框 2">
            <a:extLst>
              <a:ext uri="{FF2B5EF4-FFF2-40B4-BE49-F238E27FC236}">
                <a16:creationId xmlns:a16="http://schemas.microsoft.com/office/drawing/2014/main" id="{FD188E06-37FF-0761-F145-CE07BE01F47F}"/>
              </a:ext>
            </a:extLst>
          </p:cNvPr>
          <p:cNvSpPr txBox="1"/>
          <p:nvPr/>
        </p:nvSpPr>
        <p:spPr>
          <a:xfrm>
            <a:off x="5758202" y="2705979"/>
            <a:ext cx="6282267" cy="1938992"/>
          </a:xfrm>
          <a:prstGeom prst="rect">
            <a:avLst/>
          </a:prstGeom>
          <a:noFill/>
        </p:spPr>
        <p:txBody>
          <a:bodyPr wrap="square" rtlCol="0">
            <a:spAutoFit/>
          </a:bodyP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论文的核心问题：</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连续值离散到三阶段时，</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Middle</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容易被两侧挤压，早期的</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Middle</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容易被识别成</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Early</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，晚期的容易被识别成</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Late</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论文提出用</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双侧阶段抑制</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去优化阶段先验。</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也就是利用</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Head3</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的输出，修正由该输出构造出的阶段先验</a:t>
            </a:r>
          </a:p>
        </p:txBody>
      </p:sp>
      <p:pic>
        <p:nvPicPr>
          <p:cNvPr id="12" name="图片 11">
            <a:extLst>
              <a:ext uri="{FF2B5EF4-FFF2-40B4-BE49-F238E27FC236}">
                <a16:creationId xmlns:a16="http://schemas.microsoft.com/office/drawing/2014/main" id="{171E1E87-00F1-A47A-D053-F4761A2D5BB3}"/>
              </a:ext>
            </a:extLst>
          </p:cNvPr>
          <p:cNvPicPr>
            <a:picLocks noChangeAspect="1"/>
          </p:cNvPicPr>
          <p:nvPr/>
        </p:nvPicPr>
        <p:blipFill>
          <a:blip r:embed="rId7"/>
          <a:stretch>
            <a:fillRect/>
          </a:stretch>
        </p:blipFill>
        <p:spPr>
          <a:xfrm>
            <a:off x="1858688" y="6168654"/>
            <a:ext cx="2716668" cy="491149"/>
          </a:xfrm>
          <a:prstGeom prst="rect">
            <a:avLst/>
          </a:prstGeom>
        </p:spPr>
      </p:pic>
      <p:pic>
        <p:nvPicPr>
          <p:cNvPr id="13" name="图片 12">
            <a:extLst>
              <a:ext uri="{FF2B5EF4-FFF2-40B4-BE49-F238E27FC236}">
                <a16:creationId xmlns:a16="http://schemas.microsoft.com/office/drawing/2014/main" id="{A08F9F1F-E4F1-71B6-4E62-300E931A1183}"/>
              </a:ext>
            </a:extLst>
          </p:cNvPr>
          <p:cNvPicPr>
            <a:picLocks noChangeAspect="1"/>
          </p:cNvPicPr>
          <p:nvPr/>
        </p:nvPicPr>
        <p:blipFill>
          <a:blip r:embed="rId4"/>
          <a:stretch>
            <a:fillRect/>
          </a:stretch>
        </p:blipFill>
        <p:spPr>
          <a:xfrm>
            <a:off x="5975774" y="5042494"/>
            <a:ext cx="342918" cy="349268"/>
          </a:xfrm>
          <a:prstGeom prst="rect">
            <a:avLst/>
          </a:prstGeom>
        </p:spPr>
      </p:pic>
      <p:sp>
        <p:nvSpPr>
          <p:cNvPr id="14" name="箭头: 右 13">
            <a:extLst>
              <a:ext uri="{FF2B5EF4-FFF2-40B4-BE49-F238E27FC236}">
                <a16:creationId xmlns:a16="http://schemas.microsoft.com/office/drawing/2014/main" id="{22EA6270-3C46-7D53-1102-030141CD2D05}"/>
              </a:ext>
            </a:extLst>
          </p:cNvPr>
          <p:cNvSpPr/>
          <p:nvPr/>
        </p:nvSpPr>
        <p:spPr>
          <a:xfrm>
            <a:off x="6468866" y="4999888"/>
            <a:ext cx="257803" cy="460268"/>
          </a:xfrm>
          <a:prstGeom prst="right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a:extLst>
              <a:ext uri="{FF2B5EF4-FFF2-40B4-BE49-F238E27FC236}">
                <a16:creationId xmlns:a16="http://schemas.microsoft.com/office/drawing/2014/main" id="{540DAAF2-D07E-9C18-A57B-83BD3B199FC8}"/>
              </a:ext>
            </a:extLst>
          </p:cNvPr>
          <p:cNvPicPr>
            <a:picLocks noChangeAspect="1"/>
          </p:cNvPicPr>
          <p:nvPr/>
        </p:nvPicPr>
        <p:blipFill>
          <a:blip r:embed="rId7"/>
          <a:stretch>
            <a:fillRect/>
          </a:stretch>
        </p:blipFill>
        <p:spPr>
          <a:xfrm>
            <a:off x="9436331" y="4983443"/>
            <a:ext cx="2716668" cy="491149"/>
          </a:xfrm>
          <a:prstGeom prst="rect">
            <a:avLst/>
          </a:prstGeom>
        </p:spPr>
      </p:pic>
      <p:sp>
        <p:nvSpPr>
          <p:cNvPr id="17" name="文本框 16">
            <a:extLst>
              <a:ext uri="{FF2B5EF4-FFF2-40B4-BE49-F238E27FC236}">
                <a16:creationId xmlns:a16="http://schemas.microsoft.com/office/drawing/2014/main" id="{213C8ADB-5240-89CC-9F65-D2DEA0F06CA6}"/>
              </a:ext>
            </a:extLst>
          </p:cNvPr>
          <p:cNvSpPr txBox="1"/>
          <p:nvPr/>
        </p:nvSpPr>
        <p:spPr>
          <a:xfrm>
            <a:off x="5642289" y="5499886"/>
            <a:ext cx="1129335" cy="646331"/>
          </a:xfrm>
          <a:prstGeom prst="rect">
            <a:avLst/>
          </a:prstGeom>
          <a:noFill/>
        </p:spPr>
        <p:txBody>
          <a:bodyPr wrap="square" rtlCol="0">
            <a:spAutoFit/>
          </a:bodyPr>
          <a:lstStyle/>
          <a:p>
            <a:pPr algn="ctr"/>
            <a:r>
              <a:rPr lang="zh-CN" altLang="en-US" dirty="0">
                <a:latin typeface="Times New Roman" panose="02020603050405020304" pitchFamily="18" charset="0"/>
                <a:ea typeface="宋体" panose="02010600030101010101" pitchFamily="2" charset="-122"/>
                <a:cs typeface="Times New Roman" panose="02020603050405020304" pitchFamily="18" charset="0"/>
              </a:rPr>
              <a:t>相对退化位置</a:t>
            </a:r>
          </a:p>
        </p:txBody>
      </p:sp>
      <p:sp>
        <p:nvSpPr>
          <p:cNvPr id="18" name="文本框 17">
            <a:extLst>
              <a:ext uri="{FF2B5EF4-FFF2-40B4-BE49-F238E27FC236}">
                <a16:creationId xmlns:a16="http://schemas.microsoft.com/office/drawing/2014/main" id="{4979E22B-84DC-0C99-0B90-613D7427C1A7}"/>
              </a:ext>
            </a:extLst>
          </p:cNvPr>
          <p:cNvSpPr txBox="1"/>
          <p:nvPr/>
        </p:nvSpPr>
        <p:spPr>
          <a:xfrm>
            <a:off x="10229997" y="5489877"/>
            <a:ext cx="1129335" cy="646331"/>
          </a:xfrm>
          <a:prstGeom prst="rect">
            <a:avLst/>
          </a:prstGeom>
          <a:noFill/>
        </p:spPr>
        <p:txBody>
          <a:bodyPr wrap="square" rtlCol="0">
            <a:spAutoFit/>
          </a:bodyPr>
          <a:lstStyle/>
          <a:p>
            <a:pPr algn="ctr"/>
            <a:r>
              <a:rPr lang="zh-CN" altLang="en-US" dirty="0">
                <a:latin typeface="Times New Roman" panose="02020603050405020304" pitchFamily="18" charset="0"/>
                <a:ea typeface="宋体" panose="02010600030101010101" pitchFamily="2" charset="-122"/>
                <a:cs typeface="Times New Roman" panose="02020603050405020304" pitchFamily="18" charset="0"/>
              </a:rPr>
              <a:t>退化位置先验</a:t>
            </a:r>
          </a:p>
        </p:txBody>
      </p:sp>
      <p:sp>
        <p:nvSpPr>
          <p:cNvPr id="24" name="箭头: 右 23">
            <a:extLst>
              <a:ext uri="{FF2B5EF4-FFF2-40B4-BE49-F238E27FC236}">
                <a16:creationId xmlns:a16="http://schemas.microsoft.com/office/drawing/2014/main" id="{8A4CB20C-92D4-5E7A-50FC-384E8F08D0E4}"/>
              </a:ext>
            </a:extLst>
          </p:cNvPr>
          <p:cNvSpPr/>
          <p:nvPr/>
        </p:nvSpPr>
        <p:spPr>
          <a:xfrm>
            <a:off x="8911362" y="5023173"/>
            <a:ext cx="257803" cy="460268"/>
          </a:xfrm>
          <a:prstGeom prst="right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a:extLst>
              <a:ext uri="{FF2B5EF4-FFF2-40B4-BE49-F238E27FC236}">
                <a16:creationId xmlns:a16="http://schemas.microsoft.com/office/drawing/2014/main" id="{0DA30C33-81F9-5248-E763-7F0B0406750F}"/>
              </a:ext>
            </a:extLst>
          </p:cNvPr>
          <p:cNvSpPr/>
          <p:nvPr/>
        </p:nvSpPr>
        <p:spPr>
          <a:xfrm>
            <a:off x="7164824" y="4680562"/>
            <a:ext cx="1358440" cy="5397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双侧抑制</a:t>
            </a:r>
          </a:p>
        </p:txBody>
      </p:sp>
      <p:sp>
        <p:nvSpPr>
          <p:cNvPr id="40" name="矩形 39">
            <a:extLst>
              <a:ext uri="{FF2B5EF4-FFF2-40B4-BE49-F238E27FC236}">
                <a16:creationId xmlns:a16="http://schemas.microsoft.com/office/drawing/2014/main" id="{85E7F35E-1E18-2FF4-9F7D-8CDB029C698D}"/>
              </a:ext>
            </a:extLst>
          </p:cNvPr>
          <p:cNvSpPr/>
          <p:nvPr/>
        </p:nvSpPr>
        <p:spPr>
          <a:xfrm>
            <a:off x="7164824" y="5391762"/>
            <a:ext cx="1358440" cy="5397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Middle</a:t>
            </a:r>
            <a:r>
              <a:rPr lang="zh-CN" altLang="en-US" dirty="0">
                <a:solidFill>
                  <a:schemeClr val="tx1"/>
                </a:solidFill>
              </a:rPr>
              <a:t>最低支持度</a:t>
            </a:r>
          </a:p>
        </p:txBody>
      </p:sp>
      <p:pic>
        <p:nvPicPr>
          <p:cNvPr id="41" name="图片 40">
            <a:extLst>
              <a:ext uri="{FF2B5EF4-FFF2-40B4-BE49-F238E27FC236}">
                <a16:creationId xmlns:a16="http://schemas.microsoft.com/office/drawing/2014/main" id="{98E88D5D-6630-AA31-090B-724E294308CE}"/>
              </a:ext>
            </a:extLst>
          </p:cNvPr>
          <p:cNvPicPr>
            <a:picLocks noChangeAspect="1"/>
          </p:cNvPicPr>
          <p:nvPr/>
        </p:nvPicPr>
        <p:blipFill>
          <a:blip r:embed="rId8"/>
          <a:stretch>
            <a:fillRect/>
          </a:stretch>
        </p:blipFill>
        <p:spPr>
          <a:xfrm>
            <a:off x="4372152" y="3007591"/>
            <a:ext cx="565179" cy="387370"/>
          </a:xfrm>
          <a:prstGeom prst="rect">
            <a:avLst/>
          </a:prstGeom>
        </p:spPr>
      </p:pic>
    </p:spTree>
    <p:extLst>
      <p:ext uri="{BB962C8B-B14F-4D97-AF65-F5344CB8AC3E}">
        <p14:creationId xmlns:p14="http://schemas.microsoft.com/office/powerpoint/2010/main" val="41021347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04470497-EC11-91A1-03DB-CABDD58BB1A0}"/>
              </a:ext>
            </a:extLst>
          </p:cNvPr>
          <p:cNvSpPr txBox="1"/>
          <p:nvPr/>
        </p:nvSpPr>
        <p:spPr>
          <a:xfrm>
            <a:off x="2413000" y="320502"/>
            <a:ext cx="7340471" cy="369332"/>
          </a:xfrm>
          <a:prstGeom prst="rect">
            <a:avLst/>
          </a:prstGeom>
          <a:noFill/>
        </p:spPr>
        <p:txBody>
          <a:bodyPr wrap="none" rtlCol="0">
            <a:spAutoFit/>
          </a:bodyPr>
          <a:lstStyle/>
          <a:p>
            <a:r>
              <a:rPr lang="zh-CN" altLang="en-US" b="1" dirty="0">
                <a:solidFill>
                  <a:srgbClr val="FF0000"/>
                </a:solidFill>
                <a:latin typeface="宋体" panose="02010600030101010101" pitchFamily="2" charset="-122"/>
                <a:ea typeface="宋体" panose="02010600030101010101" pitchFamily="2" charset="-122"/>
              </a:rPr>
              <a:t>第一次融合：</a:t>
            </a:r>
            <a:r>
              <a:rPr lang="zh-CN" altLang="en-US" dirty="0">
                <a:latin typeface="宋体" panose="02010600030101010101" pitchFamily="2" charset="-122"/>
                <a:ea typeface="宋体" panose="02010600030101010101" pitchFamily="2" charset="-122"/>
              </a:rPr>
              <a:t>先将</a:t>
            </a:r>
            <a:r>
              <a:rPr lang="en-US" altLang="zh-CN" dirty="0">
                <a:latin typeface="宋体" panose="02010600030101010101" pitchFamily="2" charset="-122"/>
                <a:ea typeface="宋体" panose="02010600030101010101" pitchFamily="2" charset="-122"/>
              </a:rPr>
              <a:t>Head2</a:t>
            </a:r>
            <a:r>
              <a:rPr lang="zh-CN" altLang="en-US" dirty="0">
                <a:latin typeface="宋体" panose="02010600030101010101" pitchFamily="2" charset="-122"/>
                <a:ea typeface="宋体" panose="02010600030101010101" pitchFamily="2" charset="-122"/>
              </a:rPr>
              <a:t>和</a:t>
            </a:r>
            <a:r>
              <a:rPr lang="en-US" altLang="zh-CN" dirty="0">
                <a:latin typeface="宋体" panose="02010600030101010101" pitchFamily="2" charset="-122"/>
                <a:ea typeface="宋体" panose="02010600030101010101" pitchFamily="2" charset="-122"/>
              </a:rPr>
              <a:t>3</a:t>
            </a:r>
            <a:r>
              <a:rPr lang="zh-CN" altLang="en-US" dirty="0">
                <a:latin typeface="宋体" panose="02010600030101010101" pitchFamily="2" charset="-122"/>
                <a:ea typeface="宋体" panose="02010600030101010101" pitchFamily="2" charset="-122"/>
              </a:rPr>
              <a:t>的判别结果进行融合，形成辅助校正信息</a:t>
            </a:r>
          </a:p>
        </p:txBody>
      </p:sp>
      <p:pic>
        <p:nvPicPr>
          <p:cNvPr id="7" name="图片 6">
            <a:extLst>
              <a:ext uri="{FF2B5EF4-FFF2-40B4-BE49-F238E27FC236}">
                <a16:creationId xmlns:a16="http://schemas.microsoft.com/office/drawing/2014/main" id="{4B1EB5D5-C624-1CD8-2823-673F4F0C23B5}"/>
              </a:ext>
            </a:extLst>
          </p:cNvPr>
          <p:cNvPicPr>
            <a:picLocks noChangeAspect="1"/>
          </p:cNvPicPr>
          <p:nvPr/>
        </p:nvPicPr>
        <p:blipFill>
          <a:blip r:embed="rId2"/>
          <a:stretch>
            <a:fillRect/>
          </a:stretch>
        </p:blipFill>
        <p:spPr>
          <a:xfrm>
            <a:off x="4384575" y="903756"/>
            <a:ext cx="2876698" cy="476274"/>
          </a:xfrm>
          <a:prstGeom prst="rect">
            <a:avLst/>
          </a:prstGeom>
        </p:spPr>
      </p:pic>
      <p:pic>
        <p:nvPicPr>
          <p:cNvPr id="8" name="图片 7">
            <a:extLst>
              <a:ext uri="{FF2B5EF4-FFF2-40B4-BE49-F238E27FC236}">
                <a16:creationId xmlns:a16="http://schemas.microsoft.com/office/drawing/2014/main" id="{AD188818-040D-C3BA-CB1E-0773F2C1D8BB}"/>
              </a:ext>
            </a:extLst>
          </p:cNvPr>
          <p:cNvPicPr>
            <a:picLocks noChangeAspect="1"/>
          </p:cNvPicPr>
          <p:nvPr/>
        </p:nvPicPr>
        <p:blipFill>
          <a:blip r:embed="rId3"/>
          <a:stretch>
            <a:fillRect/>
          </a:stretch>
        </p:blipFill>
        <p:spPr>
          <a:xfrm>
            <a:off x="3835374" y="1669034"/>
            <a:ext cx="990651" cy="304816"/>
          </a:xfrm>
          <a:prstGeom prst="rect">
            <a:avLst/>
          </a:prstGeom>
        </p:spPr>
      </p:pic>
      <p:sp>
        <p:nvSpPr>
          <p:cNvPr id="9" name="文本框 8">
            <a:extLst>
              <a:ext uri="{FF2B5EF4-FFF2-40B4-BE49-F238E27FC236}">
                <a16:creationId xmlns:a16="http://schemas.microsoft.com/office/drawing/2014/main" id="{02489495-9B72-D45E-72A2-B5A134F00F6E}"/>
              </a:ext>
            </a:extLst>
          </p:cNvPr>
          <p:cNvSpPr txBox="1"/>
          <p:nvPr/>
        </p:nvSpPr>
        <p:spPr>
          <a:xfrm>
            <a:off x="2597150" y="1604518"/>
            <a:ext cx="1338828" cy="369332"/>
          </a:xfrm>
          <a:prstGeom prst="rect">
            <a:avLst/>
          </a:prstGeom>
          <a:noFill/>
        </p:spPr>
        <p:txBody>
          <a:bodyPr wrap="none" rtlCol="0">
            <a:spAutoFit/>
          </a:bodyPr>
          <a:lstStyle/>
          <a:p>
            <a:r>
              <a:rPr lang="zh-CN" altLang="en-US" dirty="0">
                <a:latin typeface="宋体" panose="02010600030101010101" pitchFamily="2" charset="-122"/>
                <a:ea typeface="宋体" panose="02010600030101010101" pitchFamily="2" charset="-122"/>
              </a:rPr>
              <a:t>论文设置：</a:t>
            </a:r>
          </a:p>
        </p:txBody>
      </p:sp>
      <p:sp>
        <p:nvSpPr>
          <p:cNvPr id="10" name="文本框 9">
            <a:extLst>
              <a:ext uri="{FF2B5EF4-FFF2-40B4-BE49-F238E27FC236}">
                <a16:creationId xmlns:a16="http://schemas.microsoft.com/office/drawing/2014/main" id="{F7121F26-98E6-C1EC-1EC3-467CEC6343C3}"/>
              </a:ext>
            </a:extLst>
          </p:cNvPr>
          <p:cNvSpPr txBox="1"/>
          <p:nvPr/>
        </p:nvSpPr>
        <p:spPr>
          <a:xfrm>
            <a:off x="4886263" y="1604518"/>
            <a:ext cx="5257753" cy="369332"/>
          </a:xfrm>
          <a:prstGeom prst="rect">
            <a:avLst/>
          </a:prstGeom>
          <a:noFill/>
        </p:spPr>
        <p:txBody>
          <a:bodyPr wrap="square" rtlCol="0">
            <a:spAutoFit/>
          </a:bodyPr>
          <a:lstStyle/>
          <a:p>
            <a:r>
              <a:rPr lang="zh-CN" altLang="en-US" dirty="0">
                <a:latin typeface="宋体" panose="02010600030101010101" pitchFamily="2" charset="-122"/>
                <a:ea typeface="宋体" panose="02010600030101010101" pitchFamily="2" charset="-122"/>
              </a:rPr>
              <a:t>代表退化位置先验比细粒度状态判别的权重更高</a:t>
            </a:r>
          </a:p>
        </p:txBody>
      </p:sp>
      <p:sp>
        <p:nvSpPr>
          <p:cNvPr id="11" name="文本框 10">
            <a:extLst>
              <a:ext uri="{FF2B5EF4-FFF2-40B4-BE49-F238E27FC236}">
                <a16:creationId xmlns:a16="http://schemas.microsoft.com/office/drawing/2014/main" id="{EFA8CDA8-9ADA-1DBC-B9BB-E27925C0E5D8}"/>
              </a:ext>
            </a:extLst>
          </p:cNvPr>
          <p:cNvSpPr txBox="1"/>
          <p:nvPr/>
        </p:nvSpPr>
        <p:spPr>
          <a:xfrm>
            <a:off x="3003574" y="2542584"/>
            <a:ext cx="4432253" cy="369332"/>
          </a:xfrm>
          <a:prstGeom prst="rect">
            <a:avLst/>
          </a:prstGeom>
          <a:noFill/>
        </p:spPr>
        <p:txBody>
          <a:bodyPr wrap="square" rtlCol="0">
            <a:spAutoFit/>
          </a:bodyPr>
          <a:lstStyle/>
          <a:p>
            <a:r>
              <a:rPr lang="en-US" altLang="zh-CN" dirty="0">
                <a:latin typeface="宋体" panose="02010600030101010101" pitchFamily="2" charset="-122"/>
                <a:ea typeface="宋体" panose="02010600030101010101" pitchFamily="2" charset="-122"/>
              </a:rPr>
              <a:t>Head2</a:t>
            </a:r>
            <a:r>
              <a:rPr lang="zh-CN" altLang="en-US" dirty="0">
                <a:latin typeface="宋体" panose="02010600030101010101" pitchFamily="2" charset="-122"/>
                <a:ea typeface="宋体" panose="02010600030101010101" pitchFamily="2" charset="-122"/>
              </a:rPr>
              <a:t>和</a:t>
            </a:r>
            <a:r>
              <a:rPr lang="en-US" altLang="zh-CN" dirty="0">
                <a:latin typeface="宋体" panose="02010600030101010101" pitchFamily="2" charset="-122"/>
                <a:ea typeface="宋体" panose="02010600030101010101" pitchFamily="2" charset="-122"/>
              </a:rPr>
              <a:t>Head3</a:t>
            </a:r>
            <a:r>
              <a:rPr lang="zh-CN" altLang="en-US" dirty="0">
                <a:latin typeface="宋体" panose="02010600030101010101" pitchFamily="2" charset="-122"/>
                <a:ea typeface="宋体" panose="02010600030101010101" pitchFamily="2" charset="-122"/>
              </a:rPr>
              <a:t>的判别结果融合公式为：</a:t>
            </a:r>
          </a:p>
        </p:txBody>
      </p:sp>
      <p:pic>
        <p:nvPicPr>
          <p:cNvPr id="12" name="图片 11">
            <a:extLst>
              <a:ext uri="{FF2B5EF4-FFF2-40B4-BE49-F238E27FC236}">
                <a16:creationId xmlns:a16="http://schemas.microsoft.com/office/drawing/2014/main" id="{3D37AB03-55C5-8321-343E-FDC80344281A}"/>
              </a:ext>
            </a:extLst>
          </p:cNvPr>
          <p:cNvPicPr>
            <a:picLocks noChangeAspect="1"/>
          </p:cNvPicPr>
          <p:nvPr/>
        </p:nvPicPr>
        <p:blipFill>
          <a:blip r:embed="rId4"/>
          <a:stretch>
            <a:fillRect/>
          </a:stretch>
        </p:blipFill>
        <p:spPr>
          <a:xfrm>
            <a:off x="6972300" y="2594082"/>
            <a:ext cx="2502029" cy="361969"/>
          </a:xfrm>
          <a:prstGeom prst="rect">
            <a:avLst/>
          </a:prstGeom>
        </p:spPr>
      </p:pic>
      <p:sp>
        <p:nvSpPr>
          <p:cNvPr id="13" name="矩形: 圆角 12">
            <a:extLst>
              <a:ext uri="{FF2B5EF4-FFF2-40B4-BE49-F238E27FC236}">
                <a16:creationId xmlns:a16="http://schemas.microsoft.com/office/drawing/2014/main" id="{F2762D8A-D92B-242B-230F-0C98B7455E6B}"/>
              </a:ext>
            </a:extLst>
          </p:cNvPr>
          <p:cNvSpPr/>
          <p:nvPr/>
        </p:nvSpPr>
        <p:spPr>
          <a:xfrm>
            <a:off x="522014" y="228599"/>
            <a:ext cx="10793686" cy="2844801"/>
          </a:xfrm>
          <a:prstGeom prst="roundRect">
            <a:avLst>
              <a:gd name="adj" fmla="val 5129"/>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ED71B694-F521-0CB1-6D48-FC34E124C980}"/>
              </a:ext>
            </a:extLst>
          </p:cNvPr>
          <p:cNvSpPr/>
          <p:nvPr/>
        </p:nvSpPr>
        <p:spPr>
          <a:xfrm>
            <a:off x="522014" y="3297888"/>
            <a:ext cx="10793686" cy="2502965"/>
          </a:xfrm>
          <a:prstGeom prst="roundRect">
            <a:avLst>
              <a:gd name="adj" fmla="val 5129"/>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8A506D98-9EB8-9DB9-6551-6DAEEC1E4ECA}"/>
              </a:ext>
            </a:extLst>
          </p:cNvPr>
          <p:cNvSpPr txBox="1"/>
          <p:nvPr/>
        </p:nvSpPr>
        <p:spPr>
          <a:xfrm>
            <a:off x="2841736" y="3447876"/>
            <a:ext cx="6311343" cy="369332"/>
          </a:xfrm>
          <a:prstGeom prst="rect">
            <a:avLst/>
          </a:prstGeom>
          <a:noFill/>
        </p:spPr>
        <p:txBody>
          <a:bodyPr wrap="none" rtlCol="0">
            <a:spAutoFit/>
          </a:bodyPr>
          <a:lstStyle/>
          <a:p>
            <a:r>
              <a:rPr lang="zh-CN" altLang="en-US" b="1" dirty="0">
                <a:solidFill>
                  <a:srgbClr val="FF0000"/>
                </a:solidFill>
                <a:latin typeface="宋体" panose="02010600030101010101" pitchFamily="2" charset="-122"/>
                <a:ea typeface="宋体" panose="02010600030101010101" pitchFamily="2" charset="-122"/>
              </a:rPr>
              <a:t>第二次融合：</a:t>
            </a:r>
            <a:r>
              <a:rPr lang="zh-CN" altLang="en-US" dirty="0">
                <a:latin typeface="宋体" panose="02010600030101010101" pitchFamily="2" charset="-122"/>
                <a:ea typeface="宋体" panose="02010600030101010101" pitchFamily="2" charset="-122"/>
              </a:rPr>
              <a:t>辅助校正信息与</a:t>
            </a:r>
            <a:r>
              <a:rPr lang="en-US" altLang="zh-CN" dirty="0">
                <a:latin typeface="宋体" panose="02010600030101010101" pitchFamily="2" charset="-122"/>
                <a:ea typeface="宋体" panose="02010600030101010101" pitchFamily="2" charset="-122"/>
              </a:rPr>
              <a:t>Head1</a:t>
            </a:r>
            <a:r>
              <a:rPr lang="zh-CN" altLang="en-US" dirty="0">
                <a:latin typeface="宋体" panose="02010600030101010101" pitchFamily="2" charset="-122"/>
                <a:ea typeface="宋体" panose="02010600030101010101" pitchFamily="2" charset="-122"/>
              </a:rPr>
              <a:t>输出的主判断进行融合</a:t>
            </a:r>
          </a:p>
        </p:txBody>
      </p:sp>
      <p:pic>
        <p:nvPicPr>
          <p:cNvPr id="16" name="图片 15">
            <a:extLst>
              <a:ext uri="{FF2B5EF4-FFF2-40B4-BE49-F238E27FC236}">
                <a16:creationId xmlns:a16="http://schemas.microsoft.com/office/drawing/2014/main" id="{DDC80896-76B0-D60B-7E3F-C600F4194EBD}"/>
              </a:ext>
            </a:extLst>
          </p:cNvPr>
          <p:cNvPicPr>
            <a:picLocks noChangeAspect="1"/>
          </p:cNvPicPr>
          <p:nvPr/>
        </p:nvPicPr>
        <p:blipFill>
          <a:blip r:embed="rId5"/>
          <a:stretch>
            <a:fillRect/>
          </a:stretch>
        </p:blipFill>
        <p:spPr>
          <a:xfrm>
            <a:off x="4886263" y="3874484"/>
            <a:ext cx="2419474" cy="469924"/>
          </a:xfrm>
          <a:prstGeom prst="rect">
            <a:avLst/>
          </a:prstGeom>
        </p:spPr>
      </p:pic>
      <p:sp>
        <p:nvSpPr>
          <p:cNvPr id="21" name="文本框 20">
            <a:extLst>
              <a:ext uri="{FF2B5EF4-FFF2-40B4-BE49-F238E27FC236}">
                <a16:creationId xmlns:a16="http://schemas.microsoft.com/office/drawing/2014/main" id="{ED9832F1-97F2-594B-2A07-2795281BE282}"/>
              </a:ext>
            </a:extLst>
          </p:cNvPr>
          <p:cNvSpPr txBox="1"/>
          <p:nvPr/>
        </p:nvSpPr>
        <p:spPr>
          <a:xfrm>
            <a:off x="2841736" y="4393379"/>
            <a:ext cx="1338828" cy="369332"/>
          </a:xfrm>
          <a:prstGeom prst="rect">
            <a:avLst/>
          </a:prstGeom>
          <a:noFill/>
        </p:spPr>
        <p:txBody>
          <a:bodyPr wrap="none" rtlCol="0">
            <a:spAutoFit/>
          </a:bodyPr>
          <a:lstStyle/>
          <a:p>
            <a:r>
              <a:rPr lang="zh-CN" altLang="en-US" dirty="0">
                <a:latin typeface="宋体" panose="02010600030101010101" pitchFamily="2" charset="-122"/>
                <a:ea typeface="宋体" panose="02010600030101010101" pitchFamily="2" charset="-122"/>
              </a:rPr>
              <a:t>论文设置：</a:t>
            </a:r>
          </a:p>
        </p:txBody>
      </p:sp>
      <p:sp>
        <p:nvSpPr>
          <p:cNvPr id="22" name="文本框 21">
            <a:extLst>
              <a:ext uri="{FF2B5EF4-FFF2-40B4-BE49-F238E27FC236}">
                <a16:creationId xmlns:a16="http://schemas.microsoft.com/office/drawing/2014/main" id="{36B3DFF6-D727-2B22-87A2-647430715307}"/>
              </a:ext>
            </a:extLst>
          </p:cNvPr>
          <p:cNvSpPr txBox="1"/>
          <p:nvPr/>
        </p:nvSpPr>
        <p:spPr>
          <a:xfrm>
            <a:off x="5117723" y="4393379"/>
            <a:ext cx="6134477" cy="369332"/>
          </a:xfrm>
          <a:prstGeom prst="rect">
            <a:avLst/>
          </a:prstGeom>
          <a:noFill/>
        </p:spPr>
        <p:txBody>
          <a:bodyPr wrap="square" rtlCol="0">
            <a:spAutoFit/>
          </a:bodyPr>
          <a:lstStyle/>
          <a:p>
            <a:r>
              <a:rPr lang="zh-CN" altLang="en-US" dirty="0">
                <a:latin typeface="宋体" panose="02010600030101010101" pitchFamily="2" charset="-122"/>
                <a:ea typeface="宋体" panose="02010600030101010101" pitchFamily="2" charset="-122"/>
              </a:rPr>
              <a:t>代表还是将传感器的判断当作主信息，退化先验只做纠偏</a:t>
            </a:r>
          </a:p>
        </p:txBody>
      </p:sp>
      <p:pic>
        <p:nvPicPr>
          <p:cNvPr id="23" name="图片 22">
            <a:extLst>
              <a:ext uri="{FF2B5EF4-FFF2-40B4-BE49-F238E27FC236}">
                <a16:creationId xmlns:a16="http://schemas.microsoft.com/office/drawing/2014/main" id="{B76A4F61-901C-276F-2597-87CC6FFDFDD1}"/>
              </a:ext>
            </a:extLst>
          </p:cNvPr>
          <p:cNvPicPr>
            <a:picLocks noChangeAspect="1"/>
          </p:cNvPicPr>
          <p:nvPr/>
        </p:nvPicPr>
        <p:blipFill>
          <a:blip r:embed="rId6"/>
          <a:stretch>
            <a:fillRect/>
          </a:stretch>
        </p:blipFill>
        <p:spPr>
          <a:xfrm>
            <a:off x="4016268" y="4500437"/>
            <a:ext cx="869995" cy="215911"/>
          </a:xfrm>
          <a:prstGeom prst="rect">
            <a:avLst/>
          </a:prstGeom>
        </p:spPr>
      </p:pic>
      <p:pic>
        <p:nvPicPr>
          <p:cNvPr id="24" name="图片 23">
            <a:extLst>
              <a:ext uri="{FF2B5EF4-FFF2-40B4-BE49-F238E27FC236}">
                <a16:creationId xmlns:a16="http://schemas.microsoft.com/office/drawing/2014/main" id="{2E56276E-3079-D21A-7836-99BA3225C4F8}"/>
              </a:ext>
            </a:extLst>
          </p:cNvPr>
          <p:cNvPicPr>
            <a:picLocks noChangeAspect="1"/>
          </p:cNvPicPr>
          <p:nvPr/>
        </p:nvPicPr>
        <p:blipFill>
          <a:blip r:embed="rId7"/>
          <a:stretch>
            <a:fillRect/>
          </a:stretch>
        </p:blipFill>
        <p:spPr>
          <a:xfrm>
            <a:off x="6573320" y="5243039"/>
            <a:ext cx="2349621" cy="393720"/>
          </a:xfrm>
          <a:prstGeom prst="rect">
            <a:avLst/>
          </a:prstGeom>
        </p:spPr>
      </p:pic>
      <p:sp>
        <p:nvSpPr>
          <p:cNvPr id="25" name="文本框 24">
            <a:extLst>
              <a:ext uri="{FF2B5EF4-FFF2-40B4-BE49-F238E27FC236}">
                <a16:creationId xmlns:a16="http://schemas.microsoft.com/office/drawing/2014/main" id="{D6F3FE67-AEE5-3BDF-9235-A7E8F353F531}"/>
              </a:ext>
            </a:extLst>
          </p:cNvPr>
          <p:cNvSpPr txBox="1"/>
          <p:nvPr/>
        </p:nvSpPr>
        <p:spPr>
          <a:xfrm>
            <a:off x="3523875" y="5255233"/>
            <a:ext cx="4432253" cy="369332"/>
          </a:xfrm>
          <a:prstGeom prst="rect">
            <a:avLst/>
          </a:prstGeom>
          <a:noFill/>
        </p:spPr>
        <p:txBody>
          <a:bodyPr wrap="square" rtlCol="0">
            <a:spAutoFit/>
          </a:bodyPr>
          <a:lstStyle/>
          <a:p>
            <a:r>
              <a:rPr lang="zh-CN" altLang="en-US" dirty="0">
                <a:latin typeface="宋体" panose="02010600030101010101" pitchFamily="2" charset="-122"/>
                <a:ea typeface="宋体" panose="02010600030101010101" pitchFamily="2" charset="-122"/>
              </a:rPr>
              <a:t>最终的判别结果融合公式为：</a:t>
            </a:r>
          </a:p>
        </p:txBody>
      </p:sp>
      <p:pic>
        <p:nvPicPr>
          <p:cNvPr id="26" name="图片 25">
            <a:extLst>
              <a:ext uri="{FF2B5EF4-FFF2-40B4-BE49-F238E27FC236}">
                <a16:creationId xmlns:a16="http://schemas.microsoft.com/office/drawing/2014/main" id="{EA841FBA-37A3-7DFC-B405-1BA8907B5F38}"/>
              </a:ext>
            </a:extLst>
          </p:cNvPr>
          <p:cNvPicPr>
            <a:picLocks noChangeAspect="1"/>
          </p:cNvPicPr>
          <p:nvPr/>
        </p:nvPicPr>
        <p:blipFill>
          <a:blip r:embed="rId3"/>
          <a:stretch>
            <a:fillRect/>
          </a:stretch>
        </p:blipFill>
        <p:spPr>
          <a:xfrm>
            <a:off x="2409821" y="6006065"/>
            <a:ext cx="990651" cy="304816"/>
          </a:xfrm>
          <a:prstGeom prst="rect">
            <a:avLst/>
          </a:prstGeom>
        </p:spPr>
      </p:pic>
      <p:pic>
        <p:nvPicPr>
          <p:cNvPr id="27" name="图片 26">
            <a:extLst>
              <a:ext uri="{FF2B5EF4-FFF2-40B4-BE49-F238E27FC236}">
                <a16:creationId xmlns:a16="http://schemas.microsoft.com/office/drawing/2014/main" id="{4FA4839D-19FE-2814-8511-CF586DA7682D}"/>
              </a:ext>
            </a:extLst>
          </p:cNvPr>
          <p:cNvPicPr>
            <a:picLocks noChangeAspect="1"/>
          </p:cNvPicPr>
          <p:nvPr/>
        </p:nvPicPr>
        <p:blipFill>
          <a:blip r:embed="rId6"/>
          <a:stretch>
            <a:fillRect/>
          </a:stretch>
        </p:blipFill>
        <p:spPr>
          <a:xfrm>
            <a:off x="3457526" y="6050517"/>
            <a:ext cx="869995" cy="215911"/>
          </a:xfrm>
          <a:prstGeom prst="rect">
            <a:avLst/>
          </a:prstGeom>
        </p:spPr>
      </p:pic>
      <p:sp>
        <p:nvSpPr>
          <p:cNvPr id="28" name="文本框 27">
            <a:extLst>
              <a:ext uri="{FF2B5EF4-FFF2-40B4-BE49-F238E27FC236}">
                <a16:creationId xmlns:a16="http://schemas.microsoft.com/office/drawing/2014/main" id="{374731CC-569F-26D3-219B-586B8BE9E04A}"/>
              </a:ext>
            </a:extLst>
          </p:cNvPr>
          <p:cNvSpPr txBox="1"/>
          <p:nvPr/>
        </p:nvSpPr>
        <p:spPr>
          <a:xfrm>
            <a:off x="1706436" y="5941549"/>
            <a:ext cx="646331" cy="369332"/>
          </a:xfrm>
          <a:prstGeom prst="rect">
            <a:avLst/>
          </a:prstGeom>
          <a:noFill/>
        </p:spPr>
        <p:txBody>
          <a:bodyPr wrap="none" rtlCol="0">
            <a:spAutoFit/>
          </a:bodyPr>
          <a:lstStyle/>
          <a:p>
            <a:r>
              <a:rPr lang="zh-CN" altLang="en-US" dirty="0">
                <a:latin typeface="宋体" panose="02010600030101010101" pitchFamily="2" charset="-122"/>
                <a:ea typeface="宋体" panose="02010600030101010101" pitchFamily="2" charset="-122"/>
              </a:rPr>
              <a:t>根据</a:t>
            </a:r>
          </a:p>
        </p:txBody>
      </p:sp>
      <p:sp>
        <p:nvSpPr>
          <p:cNvPr id="29" name="文本框 28">
            <a:extLst>
              <a:ext uri="{FF2B5EF4-FFF2-40B4-BE49-F238E27FC236}">
                <a16:creationId xmlns:a16="http://schemas.microsoft.com/office/drawing/2014/main" id="{427F4B73-B3B4-EBD2-A96C-0B6270A4AC2A}"/>
              </a:ext>
            </a:extLst>
          </p:cNvPr>
          <p:cNvSpPr txBox="1"/>
          <p:nvPr/>
        </p:nvSpPr>
        <p:spPr>
          <a:xfrm>
            <a:off x="4384575" y="5944615"/>
            <a:ext cx="5609228" cy="369332"/>
          </a:xfrm>
          <a:prstGeom prst="rect">
            <a:avLst/>
          </a:prstGeom>
          <a:noFill/>
        </p:spPr>
        <p:txBody>
          <a:bodyPr wrap="none" rtlCol="0">
            <a:spAutoFit/>
          </a:bodyPr>
          <a:lstStyle/>
          <a:p>
            <a:r>
              <a:rPr lang="zh-CN" altLang="en-US" dirty="0">
                <a:latin typeface="Times New Roman" panose="02020603050405020304" pitchFamily="18" charset="0"/>
                <a:ea typeface="宋体" panose="02010600030101010101" pitchFamily="2" charset="-122"/>
                <a:cs typeface="Times New Roman" panose="02020603050405020304" pitchFamily="18" charset="0"/>
              </a:rPr>
              <a:t>三个输出头结果的实际权重占比是</a:t>
            </a:r>
            <a:r>
              <a:rPr lang="en-US" altLang="zh-CN" dirty="0">
                <a:latin typeface="Times New Roman" panose="02020603050405020304" pitchFamily="18" charset="0"/>
                <a:ea typeface="宋体" panose="02010600030101010101" pitchFamily="2" charset="-122"/>
                <a:cs typeface="Times New Roman" panose="02020603050405020304" pitchFamily="18" charset="0"/>
              </a:rPr>
              <a:t>75%</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7.5%</a:t>
            </a:r>
            <a:r>
              <a:rPr lang="zh-CN" altLang="en-US" dirty="0">
                <a:latin typeface="Times New Roman" panose="02020603050405020304" pitchFamily="18" charset="0"/>
                <a:ea typeface="宋体" panose="02010600030101010101" pitchFamily="2" charset="-122"/>
                <a:cs typeface="Times New Roman" panose="02020603050405020304" pitchFamily="18" charset="0"/>
              </a:rPr>
              <a:t>和</a:t>
            </a:r>
            <a:r>
              <a:rPr lang="en-US" altLang="zh-CN" dirty="0">
                <a:latin typeface="Times New Roman" panose="02020603050405020304" pitchFamily="18" charset="0"/>
                <a:ea typeface="宋体" panose="02010600030101010101" pitchFamily="2" charset="-122"/>
                <a:cs typeface="Times New Roman" panose="02020603050405020304" pitchFamily="18" charset="0"/>
              </a:rPr>
              <a:t>17.5%</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0" name="文本框 29">
            <a:extLst>
              <a:ext uri="{FF2B5EF4-FFF2-40B4-BE49-F238E27FC236}">
                <a16:creationId xmlns:a16="http://schemas.microsoft.com/office/drawing/2014/main" id="{3C17D2DF-8BD5-CDFD-888D-FEEA5AEC1B8A}"/>
              </a:ext>
            </a:extLst>
          </p:cNvPr>
          <p:cNvSpPr txBox="1"/>
          <p:nvPr/>
        </p:nvSpPr>
        <p:spPr>
          <a:xfrm>
            <a:off x="2537916" y="6444735"/>
            <a:ext cx="7455887" cy="369332"/>
          </a:xfrm>
          <a:prstGeom prst="rect">
            <a:avLst/>
          </a:prstGeom>
          <a:noFill/>
        </p:spPr>
        <p:txBody>
          <a:bodyPr wrap="none" rtlCol="0">
            <a:spAutoFit/>
          </a:bodyPr>
          <a:lstStyle/>
          <a:p>
            <a:r>
              <a:rPr lang="zh-CN" altLang="en-US" dirty="0">
                <a:latin typeface="Times New Roman" panose="02020603050405020304" pitchFamily="18" charset="0"/>
                <a:ea typeface="宋体" panose="02010600030101010101" pitchFamily="2" charset="-122"/>
                <a:cs typeface="Times New Roman" panose="02020603050405020304" pitchFamily="18" charset="0"/>
              </a:rPr>
              <a:t>因此</a:t>
            </a:r>
            <a:r>
              <a:rPr lang="en-US" altLang="zh-CN" dirty="0">
                <a:latin typeface="Times New Roman" panose="02020603050405020304" pitchFamily="18" charset="0"/>
                <a:ea typeface="宋体" panose="02010600030101010101" pitchFamily="2" charset="-122"/>
                <a:cs typeface="Times New Roman" panose="02020603050405020304" pitchFamily="18" charset="0"/>
              </a:rPr>
              <a:t>DC-PSR</a:t>
            </a:r>
            <a:r>
              <a:rPr lang="zh-CN" altLang="en-US" dirty="0">
                <a:latin typeface="Times New Roman" panose="02020603050405020304" pitchFamily="18" charset="0"/>
                <a:ea typeface="宋体" panose="02010600030101010101" pitchFamily="2" charset="-122"/>
                <a:cs typeface="Times New Roman" panose="02020603050405020304" pitchFamily="18" charset="0"/>
              </a:rPr>
              <a:t>的思想是：在</a:t>
            </a:r>
            <a:r>
              <a:rPr lang="zh-CN" altLang="zh-CN" dirty="0">
                <a:latin typeface="Times New Roman" panose="02020603050405020304" pitchFamily="18" charset="0"/>
                <a:ea typeface="宋体" panose="02010600030101010101" pitchFamily="2" charset="-122"/>
                <a:cs typeface="Times New Roman" panose="02020603050405020304" pitchFamily="18" charset="0"/>
              </a:rPr>
              <a:t>网络瞬时判断之外加入结构约束和退化规律</a:t>
            </a:r>
            <a:r>
              <a:rPr lang="zh-CN" altLang="zh-CN" dirty="0"/>
              <a:t>。</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7133578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5F227EDB-462D-73E7-F91F-3FF4558CB5EC}"/>
              </a:ext>
            </a:extLst>
          </p:cNvPr>
          <p:cNvPicPr>
            <a:picLocks noChangeAspect="1"/>
          </p:cNvPicPr>
          <p:nvPr/>
        </p:nvPicPr>
        <p:blipFill>
          <a:blip r:embed="rId2"/>
          <a:stretch>
            <a:fillRect/>
          </a:stretch>
        </p:blipFill>
        <p:spPr>
          <a:xfrm>
            <a:off x="4267111" y="196840"/>
            <a:ext cx="3467278" cy="368319"/>
          </a:xfrm>
          <a:prstGeom prst="rect">
            <a:avLst/>
          </a:prstGeom>
        </p:spPr>
      </p:pic>
      <p:sp>
        <p:nvSpPr>
          <p:cNvPr id="5" name="文本框 4">
            <a:extLst>
              <a:ext uri="{FF2B5EF4-FFF2-40B4-BE49-F238E27FC236}">
                <a16:creationId xmlns:a16="http://schemas.microsoft.com/office/drawing/2014/main" id="{C23AAA4D-B9DD-68BC-A375-EBA2211F4362}"/>
              </a:ext>
            </a:extLst>
          </p:cNvPr>
          <p:cNvSpPr txBox="1"/>
          <p:nvPr/>
        </p:nvSpPr>
        <p:spPr>
          <a:xfrm>
            <a:off x="143966" y="793235"/>
            <a:ext cx="11963367" cy="646331"/>
          </a:xfrm>
          <a:prstGeom prst="rect">
            <a:avLst/>
          </a:prstGeom>
          <a:noFill/>
        </p:spPr>
        <p:txBody>
          <a:bodyPr wrap="square" rtlCol="0">
            <a:spAutoFit/>
          </a:bodyPr>
          <a:lstStyle/>
          <a:p>
            <a:r>
              <a:rPr lang="zh-CN" altLang="en-US" dirty="0">
                <a:latin typeface="Times New Roman" panose="02020603050405020304" pitchFamily="18" charset="0"/>
                <a:ea typeface="宋体" panose="02010600030101010101" pitchFamily="2" charset="-122"/>
                <a:cs typeface="Times New Roman" panose="02020603050405020304" pitchFamily="18" charset="0"/>
              </a:rPr>
              <a:t>阶段结果融合后，还要面临一个问题：每个时间窗都独立受当前噪声影响，因此普通的分类网络会输出不具备时间连续性的阶段结果</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文本框 5">
            <a:extLst>
              <a:ext uri="{FF2B5EF4-FFF2-40B4-BE49-F238E27FC236}">
                <a16:creationId xmlns:a16="http://schemas.microsoft.com/office/drawing/2014/main" id="{228E2DE6-E4A7-BAB0-328C-7605A3340D08}"/>
              </a:ext>
            </a:extLst>
          </p:cNvPr>
          <p:cNvSpPr txBox="1"/>
          <p:nvPr/>
        </p:nvSpPr>
        <p:spPr>
          <a:xfrm>
            <a:off x="143966" y="1667642"/>
            <a:ext cx="11963367" cy="369332"/>
          </a:xfrm>
          <a:prstGeom prst="rect">
            <a:avLst/>
          </a:prstGeom>
          <a:noFill/>
        </p:spPr>
        <p:txBody>
          <a:bodyPr wrap="square" rtlCol="0">
            <a:spAutoFit/>
          </a:bodyPr>
          <a:lstStyle/>
          <a:p>
            <a:r>
              <a:rPr lang="zh-CN" altLang="en-US" dirty="0">
                <a:latin typeface="Times New Roman" panose="02020603050405020304" pitchFamily="18" charset="0"/>
                <a:ea typeface="宋体" panose="02010600030101010101" pitchFamily="2" charset="-122"/>
                <a:cs typeface="Times New Roman" panose="02020603050405020304" pitchFamily="18" charset="0"/>
              </a:rPr>
              <a:t>因此论文加入：</a:t>
            </a:r>
            <a:r>
              <a:rPr lang="zh-CN" altLang="en-US" b="1" dirty="0">
                <a:latin typeface="Times New Roman" panose="02020603050405020304" pitchFamily="18" charset="0"/>
                <a:ea typeface="宋体" panose="02010600030101010101" pitchFamily="2" charset="-122"/>
                <a:cs typeface="Times New Roman" panose="02020603050405020304" pitchFamily="18" charset="0"/>
              </a:rPr>
              <a:t>因果有序滤波，即带历史记忆的概率校正</a:t>
            </a:r>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文本框 6">
            <a:extLst>
              <a:ext uri="{FF2B5EF4-FFF2-40B4-BE49-F238E27FC236}">
                <a16:creationId xmlns:a16="http://schemas.microsoft.com/office/drawing/2014/main" id="{B3EF9330-0F69-474E-9400-F20CE6F4F5A3}"/>
              </a:ext>
            </a:extLst>
          </p:cNvPr>
          <p:cNvSpPr txBox="1"/>
          <p:nvPr/>
        </p:nvSpPr>
        <p:spPr>
          <a:xfrm>
            <a:off x="143967" y="2353442"/>
            <a:ext cx="3513634" cy="369332"/>
          </a:xfrm>
          <a:prstGeom prst="rect">
            <a:avLst/>
          </a:prstGeom>
          <a:noFill/>
        </p:spPr>
        <p:txBody>
          <a:bodyPr wrap="square" rtlCol="0">
            <a:spAutoFit/>
          </a:bodyPr>
          <a:lstStyle/>
          <a:p>
            <a:r>
              <a:rPr lang="zh-CN" altLang="en-US" dirty="0">
                <a:latin typeface="Times New Roman" panose="02020603050405020304" pitchFamily="18" charset="0"/>
                <a:ea typeface="宋体" panose="02010600030101010101" pitchFamily="2" charset="-122"/>
                <a:cs typeface="Times New Roman" panose="02020603050405020304" pitchFamily="18" charset="0"/>
              </a:rPr>
              <a:t>论文规定了一个三阶段转移矩阵：</a:t>
            </a:r>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8" name="图片 7">
            <a:extLst>
              <a:ext uri="{FF2B5EF4-FFF2-40B4-BE49-F238E27FC236}">
                <a16:creationId xmlns:a16="http://schemas.microsoft.com/office/drawing/2014/main" id="{CCF7A804-86B2-C9EF-20B3-46AB418ECA59}"/>
              </a:ext>
            </a:extLst>
          </p:cNvPr>
          <p:cNvPicPr>
            <a:picLocks noChangeAspect="1"/>
          </p:cNvPicPr>
          <p:nvPr/>
        </p:nvPicPr>
        <p:blipFill>
          <a:blip r:embed="rId3"/>
          <a:stretch>
            <a:fillRect/>
          </a:stretch>
        </p:blipFill>
        <p:spPr>
          <a:xfrm>
            <a:off x="3936932" y="2134862"/>
            <a:ext cx="2641736" cy="806491"/>
          </a:xfrm>
          <a:prstGeom prst="rect">
            <a:avLst/>
          </a:prstGeom>
        </p:spPr>
      </p:pic>
      <p:sp>
        <p:nvSpPr>
          <p:cNvPr id="9" name="文本框 8">
            <a:extLst>
              <a:ext uri="{FF2B5EF4-FFF2-40B4-BE49-F238E27FC236}">
                <a16:creationId xmlns:a16="http://schemas.microsoft.com/office/drawing/2014/main" id="{AF59EAD0-3676-FCCF-7B4C-9EB7BD810D66}"/>
              </a:ext>
            </a:extLst>
          </p:cNvPr>
          <p:cNvSpPr txBox="1"/>
          <p:nvPr/>
        </p:nvSpPr>
        <p:spPr>
          <a:xfrm>
            <a:off x="143966" y="3159933"/>
            <a:ext cx="11963367" cy="369332"/>
          </a:xfrm>
          <a:prstGeom prst="rect">
            <a:avLst/>
          </a:prstGeom>
          <a:noFill/>
        </p:spPr>
        <p:txBody>
          <a:bodyPr wrap="square" rtlCol="0">
            <a:spAutoFit/>
          </a:bodyPr>
          <a:lstStyle/>
          <a:p>
            <a:r>
              <a:rPr lang="zh-CN" altLang="en-US" dirty="0">
                <a:latin typeface="Times New Roman" panose="02020603050405020304" pitchFamily="18" charset="0"/>
                <a:ea typeface="宋体" panose="02010600030101010101" pitchFamily="2" charset="-122"/>
                <a:cs typeface="Times New Roman" panose="02020603050405020304" pitchFamily="18" charset="0"/>
              </a:rPr>
              <a:t>矩阵的行表示：上一时刻是什么阶段，列表示下一时刻可能是什么阶段</a:t>
            </a:r>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10" name="图片 9">
            <a:extLst>
              <a:ext uri="{FF2B5EF4-FFF2-40B4-BE49-F238E27FC236}">
                <a16:creationId xmlns:a16="http://schemas.microsoft.com/office/drawing/2014/main" id="{8991B25B-76AD-CA40-62FD-99B9E9DE8606}"/>
              </a:ext>
            </a:extLst>
          </p:cNvPr>
          <p:cNvPicPr>
            <a:picLocks noChangeAspect="1"/>
          </p:cNvPicPr>
          <p:nvPr/>
        </p:nvPicPr>
        <p:blipFill>
          <a:blip r:embed="rId4"/>
          <a:stretch>
            <a:fillRect/>
          </a:stretch>
        </p:blipFill>
        <p:spPr>
          <a:xfrm>
            <a:off x="2489200" y="3587684"/>
            <a:ext cx="7909659" cy="1616524"/>
          </a:xfrm>
          <a:prstGeom prst="rect">
            <a:avLst/>
          </a:prstGeom>
        </p:spPr>
      </p:pic>
      <p:sp>
        <p:nvSpPr>
          <p:cNvPr id="11" name="文本框 10">
            <a:extLst>
              <a:ext uri="{FF2B5EF4-FFF2-40B4-BE49-F238E27FC236}">
                <a16:creationId xmlns:a16="http://schemas.microsoft.com/office/drawing/2014/main" id="{7271B544-8B24-583C-D25D-8296C8C71A8C}"/>
              </a:ext>
            </a:extLst>
          </p:cNvPr>
          <p:cNvSpPr txBox="1"/>
          <p:nvPr/>
        </p:nvSpPr>
        <p:spPr>
          <a:xfrm>
            <a:off x="6731034" y="2413787"/>
            <a:ext cx="1964233" cy="369332"/>
          </a:xfrm>
          <a:prstGeom prst="rect">
            <a:avLst/>
          </a:prstGeom>
          <a:noFill/>
        </p:spPr>
        <p:txBody>
          <a:bodyPr wrap="square" rtlCol="0">
            <a:spAutoFit/>
          </a:bodyPr>
          <a:lstStyle/>
          <a:p>
            <a:r>
              <a:rPr lang="zh-CN" altLang="en-US" dirty="0">
                <a:latin typeface="Times New Roman" panose="02020603050405020304" pitchFamily="18" charset="0"/>
                <a:ea typeface="宋体" panose="02010600030101010101" pitchFamily="2" charset="-122"/>
                <a:cs typeface="Times New Roman" panose="02020603050405020304" pitchFamily="18" charset="0"/>
              </a:rPr>
              <a:t>该参数是固定的</a:t>
            </a:r>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 name="文本框 11">
            <a:extLst>
              <a:ext uri="{FF2B5EF4-FFF2-40B4-BE49-F238E27FC236}">
                <a16:creationId xmlns:a16="http://schemas.microsoft.com/office/drawing/2014/main" id="{DB5C55AE-CCE8-F811-AC30-7E8FF00AC075}"/>
              </a:ext>
            </a:extLst>
          </p:cNvPr>
          <p:cNvSpPr txBox="1"/>
          <p:nvPr/>
        </p:nvSpPr>
        <p:spPr>
          <a:xfrm>
            <a:off x="433934" y="5418434"/>
            <a:ext cx="11133632" cy="646331"/>
          </a:xfrm>
          <a:prstGeom prst="rect">
            <a:avLst/>
          </a:prstGeom>
          <a:noFill/>
        </p:spPr>
        <p:txBody>
          <a:bodyPr wrap="square" rtlCol="0">
            <a:spAutoFit/>
          </a:bodyPr>
          <a:lstStyle/>
          <a:p>
            <a:r>
              <a:rPr lang="zh-CN" altLang="en-US" dirty="0">
                <a:latin typeface="Times New Roman" panose="02020603050405020304" pitchFamily="18" charset="0"/>
                <a:ea typeface="宋体" panose="02010600030101010101" pitchFamily="2" charset="-122"/>
                <a:cs typeface="Times New Roman" panose="02020603050405020304" pitchFamily="18" charset="0"/>
              </a:rPr>
              <a:t>从该表格来看，如果上一时刻是</a:t>
            </a:r>
            <a:r>
              <a:rPr lang="en-US" altLang="zh-CN" dirty="0">
                <a:latin typeface="Times New Roman" panose="02020603050405020304" pitchFamily="18" charset="0"/>
                <a:ea typeface="宋体" panose="02010600030101010101" pitchFamily="2" charset="-122"/>
                <a:cs typeface="Times New Roman" panose="02020603050405020304" pitchFamily="18" charset="0"/>
              </a:rPr>
              <a:t>Early</a:t>
            </a:r>
            <a:r>
              <a:rPr lang="zh-CN" altLang="en-US" dirty="0">
                <a:latin typeface="Times New Roman" panose="02020603050405020304" pitchFamily="18" charset="0"/>
                <a:ea typeface="宋体" panose="02010600030101010101" pitchFamily="2" charset="-122"/>
                <a:cs typeface="Times New Roman" panose="02020603050405020304" pitchFamily="18" charset="0"/>
              </a:rPr>
              <a:t>，则下一时刻是</a:t>
            </a:r>
            <a:r>
              <a:rPr lang="en-US" altLang="zh-CN" dirty="0">
                <a:latin typeface="Times New Roman" panose="02020603050405020304" pitchFamily="18" charset="0"/>
                <a:ea typeface="宋体" panose="02010600030101010101" pitchFamily="2" charset="-122"/>
                <a:cs typeface="Times New Roman" panose="02020603050405020304" pitchFamily="18" charset="0"/>
              </a:rPr>
              <a:t>Early</a:t>
            </a:r>
            <a:r>
              <a:rPr lang="zh-CN" altLang="en-US" dirty="0">
                <a:latin typeface="Times New Roman" panose="02020603050405020304" pitchFamily="18" charset="0"/>
                <a:ea typeface="宋体" panose="02010600030101010101" pitchFamily="2" charset="-122"/>
                <a:cs typeface="Times New Roman" panose="02020603050405020304" pitchFamily="18" charset="0"/>
              </a:rPr>
              <a:t>的概率为</a:t>
            </a:r>
            <a:r>
              <a:rPr lang="en-US" altLang="zh-CN" dirty="0">
                <a:latin typeface="Times New Roman" panose="02020603050405020304" pitchFamily="18" charset="0"/>
                <a:ea typeface="宋体" panose="02010600030101010101" pitchFamily="2" charset="-122"/>
                <a:cs typeface="Times New Roman" panose="02020603050405020304" pitchFamily="18" charset="0"/>
              </a:rPr>
              <a:t>94%</a:t>
            </a:r>
            <a:r>
              <a:rPr lang="zh-CN" altLang="en-US" dirty="0">
                <a:latin typeface="Times New Roman" panose="02020603050405020304" pitchFamily="18" charset="0"/>
                <a:ea typeface="宋体" panose="02010600030101010101" pitchFamily="2" charset="-122"/>
                <a:cs typeface="Times New Roman" panose="02020603050405020304" pitchFamily="18" charset="0"/>
              </a:rPr>
              <a:t>，是</a:t>
            </a:r>
            <a:r>
              <a:rPr lang="en-US" altLang="zh-CN" dirty="0">
                <a:latin typeface="Times New Roman" panose="02020603050405020304" pitchFamily="18" charset="0"/>
                <a:ea typeface="宋体" panose="02010600030101010101" pitchFamily="2" charset="-122"/>
                <a:cs typeface="Times New Roman" panose="02020603050405020304" pitchFamily="18" charset="0"/>
              </a:rPr>
              <a:t>Middle</a:t>
            </a:r>
            <a:r>
              <a:rPr lang="zh-CN" altLang="en-US" dirty="0">
                <a:latin typeface="Times New Roman" panose="02020603050405020304" pitchFamily="18" charset="0"/>
                <a:ea typeface="宋体" panose="02010600030101010101" pitchFamily="2" charset="-122"/>
                <a:cs typeface="Times New Roman" panose="02020603050405020304" pitchFamily="18" charset="0"/>
              </a:rPr>
              <a:t>的概率是</a:t>
            </a:r>
            <a:r>
              <a:rPr lang="en-US" altLang="zh-CN" dirty="0">
                <a:latin typeface="Times New Roman" panose="02020603050405020304" pitchFamily="18" charset="0"/>
                <a:ea typeface="宋体" panose="02010600030101010101" pitchFamily="2" charset="-122"/>
                <a:cs typeface="Times New Roman" panose="02020603050405020304" pitchFamily="18" charset="0"/>
              </a:rPr>
              <a:t>5.5%</a:t>
            </a:r>
            <a:r>
              <a:rPr lang="zh-CN" altLang="en-US" dirty="0">
                <a:latin typeface="Times New Roman" panose="02020603050405020304" pitchFamily="18" charset="0"/>
                <a:ea typeface="宋体" panose="02010600030101010101" pitchFamily="2" charset="-122"/>
                <a:cs typeface="Times New Roman" panose="02020603050405020304" pitchFamily="18" charset="0"/>
              </a:rPr>
              <a:t>，直接进入</a:t>
            </a:r>
            <a:r>
              <a:rPr lang="en-US" altLang="zh-CN" dirty="0">
                <a:latin typeface="Times New Roman" panose="02020603050405020304" pitchFamily="18" charset="0"/>
                <a:ea typeface="宋体" panose="02010600030101010101" pitchFamily="2" charset="-122"/>
                <a:cs typeface="Times New Roman" panose="02020603050405020304" pitchFamily="18" charset="0"/>
              </a:rPr>
              <a:t>Late</a:t>
            </a:r>
            <a:r>
              <a:rPr lang="zh-CN" altLang="en-US" dirty="0">
                <a:latin typeface="Times New Roman" panose="02020603050405020304" pitchFamily="18" charset="0"/>
                <a:ea typeface="宋体" panose="02010600030101010101" pitchFamily="2" charset="-122"/>
                <a:cs typeface="Times New Roman" panose="02020603050405020304" pitchFamily="18" charset="0"/>
              </a:rPr>
              <a:t>的概率是</a:t>
            </a:r>
            <a:r>
              <a:rPr lang="en-US" altLang="zh-CN" dirty="0">
                <a:latin typeface="Times New Roman" panose="02020603050405020304" pitchFamily="18" charset="0"/>
                <a:ea typeface="宋体" panose="02010600030101010101" pitchFamily="2" charset="-122"/>
                <a:cs typeface="Times New Roman" panose="02020603050405020304" pitchFamily="18" charset="0"/>
              </a:rPr>
              <a:t>0.5%</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文本框 12">
            <a:extLst>
              <a:ext uri="{FF2B5EF4-FFF2-40B4-BE49-F238E27FC236}">
                <a16:creationId xmlns:a16="http://schemas.microsoft.com/office/drawing/2014/main" id="{26B97B2C-0C53-33ED-7C46-E62F5196C7F7}"/>
              </a:ext>
            </a:extLst>
          </p:cNvPr>
          <p:cNvSpPr txBox="1"/>
          <p:nvPr/>
        </p:nvSpPr>
        <p:spPr>
          <a:xfrm>
            <a:off x="433934" y="6064765"/>
            <a:ext cx="11133632" cy="646331"/>
          </a:xfrm>
          <a:prstGeom prst="rect">
            <a:avLst/>
          </a:prstGeom>
          <a:noFill/>
        </p:spPr>
        <p:txBody>
          <a:bodyPr wrap="square" rtlCol="0">
            <a:spAutoFit/>
          </a:bodyPr>
          <a:lstStyle/>
          <a:p>
            <a:r>
              <a:rPr lang="zh-CN" altLang="en-US" dirty="0">
                <a:latin typeface="Times New Roman" panose="02020603050405020304" pitchFamily="18" charset="0"/>
                <a:ea typeface="宋体" panose="02010600030101010101" pitchFamily="2" charset="-122"/>
                <a:cs typeface="Times New Roman" panose="02020603050405020304" pitchFamily="18" charset="0"/>
              </a:rPr>
              <a:t>如果上一时刻是</a:t>
            </a:r>
            <a:r>
              <a:rPr lang="en-US" altLang="zh-CN" dirty="0">
                <a:latin typeface="Times New Roman" panose="02020603050405020304" pitchFamily="18" charset="0"/>
                <a:ea typeface="宋体" panose="02010600030101010101" pitchFamily="2" charset="-122"/>
                <a:cs typeface="Times New Roman" panose="02020603050405020304" pitchFamily="18" charset="0"/>
              </a:rPr>
              <a:t>Middle</a:t>
            </a:r>
            <a:r>
              <a:rPr lang="zh-CN" altLang="en-US" dirty="0">
                <a:latin typeface="Times New Roman" panose="02020603050405020304" pitchFamily="18" charset="0"/>
                <a:ea typeface="宋体" panose="02010600030101010101" pitchFamily="2" charset="-122"/>
                <a:cs typeface="Times New Roman" panose="02020603050405020304" pitchFamily="18" charset="0"/>
              </a:rPr>
              <a:t>，则下一时刻是</a:t>
            </a:r>
            <a:r>
              <a:rPr lang="en-US" altLang="zh-CN" dirty="0">
                <a:latin typeface="Times New Roman" panose="02020603050405020304" pitchFamily="18" charset="0"/>
                <a:ea typeface="宋体" panose="02010600030101010101" pitchFamily="2" charset="-122"/>
                <a:cs typeface="Times New Roman" panose="02020603050405020304" pitchFamily="18" charset="0"/>
              </a:rPr>
              <a:t>Early</a:t>
            </a:r>
            <a:r>
              <a:rPr lang="zh-CN" altLang="en-US" dirty="0">
                <a:latin typeface="Times New Roman" panose="02020603050405020304" pitchFamily="18" charset="0"/>
                <a:ea typeface="宋体" panose="02010600030101010101" pitchFamily="2" charset="-122"/>
                <a:cs typeface="Times New Roman" panose="02020603050405020304" pitchFamily="18" charset="0"/>
              </a:rPr>
              <a:t>的概率为</a:t>
            </a:r>
            <a:r>
              <a:rPr lang="en-US" altLang="zh-CN" dirty="0">
                <a:latin typeface="Times New Roman" panose="02020603050405020304" pitchFamily="18" charset="0"/>
                <a:ea typeface="宋体" panose="02010600030101010101" pitchFamily="2" charset="-122"/>
                <a:cs typeface="Times New Roman" panose="02020603050405020304" pitchFamily="18" charset="0"/>
              </a:rPr>
              <a:t>0.005%</a:t>
            </a:r>
            <a:r>
              <a:rPr lang="zh-CN" altLang="en-US" dirty="0">
                <a:latin typeface="Times New Roman" panose="02020603050405020304" pitchFamily="18" charset="0"/>
                <a:ea typeface="宋体" panose="02010600030101010101" pitchFamily="2" charset="-122"/>
                <a:cs typeface="Times New Roman" panose="02020603050405020304" pitchFamily="18" charset="0"/>
              </a:rPr>
              <a:t>，之所以不是</a:t>
            </a:r>
            <a:r>
              <a:rPr lang="en-US" altLang="zh-CN" dirty="0">
                <a:latin typeface="Times New Roman" panose="02020603050405020304" pitchFamily="18" charset="0"/>
                <a:ea typeface="宋体" panose="02010600030101010101" pitchFamily="2" charset="-122"/>
                <a:cs typeface="Times New Roman" panose="02020603050405020304" pitchFamily="18" charset="0"/>
              </a:rPr>
              <a:t>0</a:t>
            </a:r>
            <a:r>
              <a:rPr lang="zh-CN" altLang="en-US" dirty="0">
                <a:latin typeface="Times New Roman" panose="02020603050405020304" pitchFamily="18" charset="0"/>
                <a:ea typeface="宋体" panose="02010600030101010101" pitchFamily="2" charset="-122"/>
                <a:cs typeface="Times New Roman" panose="02020603050405020304" pitchFamily="18" charset="0"/>
              </a:rPr>
              <a:t>，是因为实际传感器会有噪声，可能存在阶段边界不确定性</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976834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8010945-8927-9496-91C5-A38FCE2042DB}"/>
              </a:ext>
            </a:extLst>
          </p:cNvPr>
          <p:cNvSpPr txBox="1"/>
          <p:nvPr/>
        </p:nvSpPr>
        <p:spPr>
          <a:xfrm>
            <a:off x="423333" y="482600"/>
            <a:ext cx="3775393" cy="400110"/>
          </a:xfrm>
          <a:prstGeom prst="rect">
            <a:avLst/>
          </a:prstGeom>
          <a:noFill/>
        </p:spPr>
        <p:txBody>
          <a:bodyPr wrap="none" rtlCol="0">
            <a:spAutoFit/>
          </a:bodyPr>
          <a:lstStyle/>
          <a:p>
            <a:r>
              <a:rPr lang="zh-CN" altLang="en-US" sz="2000" dirty="0">
                <a:latin typeface="宋体" panose="02010600030101010101" pitchFamily="2" charset="-122"/>
                <a:ea typeface="宋体" panose="02010600030101010101" pitchFamily="2" charset="-122"/>
              </a:rPr>
              <a:t>最终的</a:t>
            </a:r>
            <a:r>
              <a:rPr lang="zh-CN" altLang="en-US" sz="2000" dirty="0">
                <a:solidFill>
                  <a:srgbClr val="FF0000"/>
                </a:solidFill>
                <a:latin typeface="宋体" panose="02010600030101010101" pitchFamily="2" charset="-122"/>
                <a:ea typeface="宋体" panose="02010600030101010101" pitchFamily="2" charset="-122"/>
              </a:rPr>
              <a:t>有序阶段概率</a:t>
            </a:r>
            <a:r>
              <a:rPr lang="zh-CN" altLang="en-US" sz="2000" dirty="0">
                <a:latin typeface="宋体" panose="02010600030101010101" pitchFamily="2" charset="-122"/>
                <a:ea typeface="宋体" panose="02010600030101010101" pitchFamily="2" charset="-122"/>
              </a:rPr>
              <a:t>计算公式：</a:t>
            </a:r>
          </a:p>
        </p:txBody>
      </p:sp>
      <p:pic>
        <p:nvPicPr>
          <p:cNvPr id="5" name="图片 4">
            <a:extLst>
              <a:ext uri="{FF2B5EF4-FFF2-40B4-BE49-F238E27FC236}">
                <a16:creationId xmlns:a16="http://schemas.microsoft.com/office/drawing/2014/main" id="{4F1023A0-9626-E413-72EA-66C802FF5819}"/>
              </a:ext>
            </a:extLst>
          </p:cNvPr>
          <p:cNvPicPr>
            <a:picLocks noChangeAspect="1"/>
          </p:cNvPicPr>
          <p:nvPr/>
        </p:nvPicPr>
        <p:blipFill>
          <a:blip r:embed="rId2"/>
          <a:stretch>
            <a:fillRect/>
          </a:stretch>
        </p:blipFill>
        <p:spPr>
          <a:xfrm>
            <a:off x="4488471" y="196832"/>
            <a:ext cx="3756925" cy="1115502"/>
          </a:xfrm>
          <a:prstGeom prst="rect">
            <a:avLst/>
          </a:prstGeom>
        </p:spPr>
      </p:pic>
      <p:sp>
        <p:nvSpPr>
          <p:cNvPr id="6" name="矩形: 圆角 5">
            <a:extLst>
              <a:ext uri="{FF2B5EF4-FFF2-40B4-BE49-F238E27FC236}">
                <a16:creationId xmlns:a16="http://schemas.microsoft.com/office/drawing/2014/main" id="{00334AB3-B4AE-9E4C-5662-DCFD70B7D10A}"/>
              </a:ext>
            </a:extLst>
          </p:cNvPr>
          <p:cNvSpPr/>
          <p:nvPr/>
        </p:nvSpPr>
        <p:spPr>
          <a:xfrm>
            <a:off x="301881" y="1418288"/>
            <a:ext cx="11669986" cy="5101045"/>
          </a:xfrm>
          <a:prstGeom prst="roundRect">
            <a:avLst>
              <a:gd name="adj" fmla="val 5129"/>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1FD1DF04-1FA7-1B5F-060C-7D52CD3C1EF1}"/>
              </a:ext>
            </a:extLst>
          </p:cNvPr>
          <p:cNvSpPr txBox="1"/>
          <p:nvPr/>
        </p:nvSpPr>
        <p:spPr>
          <a:xfrm>
            <a:off x="609600" y="1659467"/>
            <a:ext cx="3005951" cy="400110"/>
          </a:xfrm>
          <a:prstGeom prst="rect">
            <a:avLst/>
          </a:prstGeom>
          <a:noFill/>
        </p:spPr>
        <p:txBody>
          <a:bodyPr wrap="none" rtlCol="0">
            <a:spAutoFit/>
          </a:bodyPr>
          <a:lstStyle/>
          <a:p>
            <a:r>
              <a:rPr lang="zh-CN" altLang="en-US" sz="2000" dirty="0">
                <a:latin typeface="宋体" panose="02010600030101010101" pitchFamily="2" charset="-122"/>
                <a:ea typeface="宋体" panose="02010600030101010101" pitchFamily="2" charset="-122"/>
              </a:rPr>
              <a:t>假设上一时刻的概率为：</a:t>
            </a:r>
          </a:p>
        </p:txBody>
      </p:sp>
      <p:pic>
        <p:nvPicPr>
          <p:cNvPr id="8" name="图片 7">
            <a:extLst>
              <a:ext uri="{FF2B5EF4-FFF2-40B4-BE49-F238E27FC236}">
                <a16:creationId xmlns:a16="http://schemas.microsoft.com/office/drawing/2014/main" id="{75920DD9-A1FF-07FA-9725-8276270D7208}"/>
              </a:ext>
            </a:extLst>
          </p:cNvPr>
          <p:cNvPicPr>
            <a:picLocks noChangeAspect="1"/>
          </p:cNvPicPr>
          <p:nvPr/>
        </p:nvPicPr>
        <p:blipFill>
          <a:blip r:embed="rId3"/>
          <a:stretch>
            <a:fillRect/>
          </a:stretch>
        </p:blipFill>
        <p:spPr>
          <a:xfrm>
            <a:off x="3675541" y="1659467"/>
            <a:ext cx="2813652" cy="482600"/>
          </a:xfrm>
          <a:prstGeom prst="rect">
            <a:avLst/>
          </a:prstGeom>
        </p:spPr>
      </p:pic>
      <p:sp>
        <p:nvSpPr>
          <p:cNvPr id="9" name="文本框 8">
            <a:extLst>
              <a:ext uri="{FF2B5EF4-FFF2-40B4-BE49-F238E27FC236}">
                <a16:creationId xmlns:a16="http://schemas.microsoft.com/office/drawing/2014/main" id="{3FE49714-54A9-0835-787D-918FD3E7648A}"/>
              </a:ext>
            </a:extLst>
          </p:cNvPr>
          <p:cNvSpPr txBox="1"/>
          <p:nvPr/>
        </p:nvSpPr>
        <p:spPr>
          <a:xfrm>
            <a:off x="609600" y="2300756"/>
            <a:ext cx="9930924" cy="400110"/>
          </a:xfrm>
          <a:prstGeom prst="rect">
            <a:avLst/>
          </a:prstGeom>
          <a:noFill/>
        </p:spPr>
        <p:txBody>
          <a:bodyPr wrap="none" rtlCol="0">
            <a:spAutoFit/>
          </a:bodyPr>
          <a:lstStyle/>
          <a:p>
            <a:r>
              <a:rPr lang="zh-CN" altLang="en-US" sz="2000" dirty="0">
                <a:latin typeface="宋体" panose="02010600030101010101" pitchFamily="2" charset="-122"/>
                <a:ea typeface="宋体" panose="02010600030101010101" pitchFamily="2" charset="-122"/>
              </a:rPr>
              <a:t>乘以转移矩阵后得到</a:t>
            </a:r>
            <a:r>
              <a:rPr lang="zh-CN" altLang="en-US" sz="2000" b="1" dirty="0">
                <a:latin typeface="宋体" panose="02010600030101010101" pitchFamily="2" charset="-122"/>
                <a:ea typeface="宋体" panose="02010600030101010101" pitchFamily="2" charset="-122"/>
              </a:rPr>
              <a:t>历史预测</a:t>
            </a:r>
            <a:r>
              <a:rPr lang="zh-CN" altLang="en-US" sz="2000" dirty="0">
                <a:latin typeface="宋体" panose="02010600030101010101" pitchFamily="2" charset="-122"/>
                <a:ea typeface="宋体" panose="02010600030101010101" pitchFamily="2" charset="-122"/>
              </a:rPr>
              <a:t>，即只根据上一时刻和阶段转移规律预测出现在的概率：</a:t>
            </a:r>
          </a:p>
        </p:txBody>
      </p:sp>
      <p:pic>
        <p:nvPicPr>
          <p:cNvPr id="10" name="图片 9">
            <a:extLst>
              <a:ext uri="{FF2B5EF4-FFF2-40B4-BE49-F238E27FC236}">
                <a16:creationId xmlns:a16="http://schemas.microsoft.com/office/drawing/2014/main" id="{9F35F9A2-9F01-A5E9-E90D-44C0CBBEA39D}"/>
              </a:ext>
            </a:extLst>
          </p:cNvPr>
          <p:cNvPicPr>
            <a:picLocks noChangeAspect="1"/>
          </p:cNvPicPr>
          <p:nvPr/>
        </p:nvPicPr>
        <p:blipFill>
          <a:blip r:embed="rId4"/>
          <a:stretch>
            <a:fillRect/>
          </a:stretch>
        </p:blipFill>
        <p:spPr>
          <a:xfrm>
            <a:off x="10337679" y="2258422"/>
            <a:ext cx="1021127" cy="484777"/>
          </a:xfrm>
          <a:prstGeom prst="rect">
            <a:avLst/>
          </a:prstGeom>
        </p:spPr>
      </p:pic>
      <p:sp>
        <p:nvSpPr>
          <p:cNvPr id="11" name="文本框 10">
            <a:extLst>
              <a:ext uri="{FF2B5EF4-FFF2-40B4-BE49-F238E27FC236}">
                <a16:creationId xmlns:a16="http://schemas.microsoft.com/office/drawing/2014/main" id="{45DF980C-AFA3-D19E-CA66-928893419131}"/>
              </a:ext>
            </a:extLst>
          </p:cNvPr>
          <p:cNvSpPr txBox="1"/>
          <p:nvPr/>
        </p:nvSpPr>
        <p:spPr>
          <a:xfrm>
            <a:off x="609600" y="3021512"/>
            <a:ext cx="4288353" cy="400110"/>
          </a:xfrm>
          <a:prstGeom prst="rect">
            <a:avLst/>
          </a:prstGeom>
          <a:noFill/>
        </p:spPr>
        <p:txBody>
          <a:bodyPr wrap="none" rtlCol="0">
            <a:spAutoFit/>
          </a:bodyPr>
          <a:lstStyle/>
          <a:p>
            <a:r>
              <a:rPr lang="zh-CN" altLang="en-US" sz="2000" dirty="0">
                <a:latin typeface="宋体" panose="02010600030101010101" pitchFamily="2" charset="-122"/>
                <a:ea typeface="宋体" panose="02010600030101010101" pitchFamily="2" charset="-122"/>
              </a:rPr>
              <a:t>假设当前的网络融合输出的概率为：</a:t>
            </a:r>
          </a:p>
        </p:txBody>
      </p:sp>
      <p:pic>
        <p:nvPicPr>
          <p:cNvPr id="12" name="图片 11">
            <a:extLst>
              <a:ext uri="{FF2B5EF4-FFF2-40B4-BE49-F238E27FC236}">
                <a16:creationId xmlns:a16="http://schemas.microsoft.com/office/drawing/2014/main" id="{8937BC69-E578-F3E0-E0F2-CD242827DBCC}"/>
              </a:ext>
            </a:extLst>
          </p:cNvPr>
          <p:cNvPicPr>
            <a:picLocks noChangeAspect="1"/>
          </p:cNvPicPr>
          <p:nvPr/>
        </p:nvPicPr>
        <p:blipFill>
          <a:blip r:embed="rId5"/>
          <a:stretch>
            <a:fillRect/>
          </a:stretch>
        </p:blipFill>
        <p:spPr>
          <a:xfrm>
            <a:off x="4856178" y="2965068"/>
            <a:ext cx="3266030" cy="542752"/>
          </a:xfrm>
          <a:prstGeom prst="rect">
            <a:avLst/>
          </a:prstGeom>
        </p:spPr>
      </p:pic>
      <p:sp>
        <p:nvSpPr>
          <p:cNvPr id="13" name="文本框 12">
            <a:extLst>
              <a:ext uri="{FF2B5EF4-FFF2-40B4-BE49-F238E27FC236}">
                <a16:creationId xmlns:a16="http://schemas.microsoft.com/office/drawing/2014/main" id="{AA57AAEB-6247-42BE-6344-761C4C266763}"/>
              </a:ext>
            </a:extLst>
          </p:cNvPr>
          <p:cNvSpPr txBox="1"/>
          <p:nvPr/>
        </p:nvSpPr>
        <p:spPr>
          <a:xfrm>
            <a:off x="8245396" y="3000346"/>
            <a:ext cx="3518912" cy="400110"/>
          </a:xfrm>
          <a:prstGeom prst="rect">
            <a:avLst/>
          </a:prstGeom>
          <a:noFill/>
        </p:spPr>
        <p:txBody>
          <a:bodyPr wrap="none" rtlCol="0">
            <a:spAutoFit/>
          </a:bodyPr>
          <a:lstStyle/>
          <a:p>
            <a:r>
              <a:rPr lang="zh-CN" altLang="en-US" sz="2000" dirty="0">
                <a:latin typeface="宋体" panose="02010600030101010101" pitchFamily="2" charset="-122"/>
                <a:ea typeface="宋体" panose="02010600030101010101" pitchFamily="2" charset="-122"/>
              </a:rPr>
              <a:t>将其与历史预测逐元素相乘：</a:t>
            </a:r>
          </a:p>
        </p:txBody>
      </p:sp>
      <p:pic>
        <p:nvPicPr>
          <p:cNvPr id="14" name="图片 13">
            <a:extLst>
              <a:ext uri="{FF2B5EF4-FFF2-40B4-BE49-F238E27FC236}">
                <a16:creationId xmlns:a16="http://schemas.microsoft.com/office/drawing/2014/main" id="{9457F537-6C6A-7B6B-F747-9183D24ED7AA}"/>
              </a:ext>
            </a:extLst>
          </p:cNvPr>
          <p:cNvPicPr>
            <a:picLocks noChangeAspect="1"/>
          </p:cNvPicPr>
          <p:nvPr/>
        </p:nvPicPr>
        <p:blipFill>
          <a:blip r:embed="rId6"/>
          <a:stretch>
            <a:fillRect/>
          </a:stretch>
        </p:blipFill>
        <p:spPr>
          <a:xfrm>
            <a:off x="5354498" y="3507820"/>
            <a:ext cx="2269389" cy="708543"/>
          </a:xfrm>
          <a:prstGeom prst="rect">
            <a:avLst/>
          </a:prstGeom>
        </p:spPr>
      </p:pic>
      <p:sp>
        <p:nvSpPr>
          <p:cNvPr id="15" name="文本框 14">
            <a:extLst>
              <a:ext uri="{FF2B5EF4-FFF2-40B4-BE49-F238E27FC236}">
                <a16:creationId xmlns:a16="http://schemas.microsoft.com/office/drawing/2014/main" id="{5B2A7F70-77AE-9CC1-4DAA-5AE8BA06836C}"/>
              </a:ext>
            </a:extLst>
          </p:cNvPr>
          <p:cNvSpPr txBox="1"/>
          <p:nvPr/>
        </p:nvSpPr>
        <p:spPr>
          <a:xfrm>
            <a:off x="609600" y="4138566"/>
            <a:ext cx="11154708" cy="1015663"/>
          </a:xfrm>
          <a:prstGeom prst="rect">
            <a:avLst/>
          </a:prstGeom>
          <a:noFill/>
        </p:spPr>
        <p:txBody>
          <a:bodyPr wrap="square" rtlCol="0">
            <a:spAutoFit/>
          </a:bodyPr>
          <a:lstStyle/>
          <a:p>
            <a:r>
              <a:rPr lang="zh-CN" altLang="en-US" sz="2000" dirty="0">
                <a:latin typeface="宋体" panose="02010600030101010101" pitchFamily="2" charset="-122"/>
                <a:ea typeface="宋体" panose="02010600030101010101" pitchFamily="2" charset="-122"/>
              </a:rPr>
              <a:t>逐元素相乘即将：当前网络模型预测的结果和基于历史状态和退化规律预测的结果进行融合。选择相乘是因为相乘的时候，只有两者都是较高的支持概率时，该状态才会拿到一个高概率，类似于共同支持度：</a:t>
            </a:r>
          </a:p>
        </p:txBody>
      </p:sp>
      <p:pic>
        <p:nvPicPr>
          <p:cNvPr id="16" name="图片 15">
            <a:extLst>
              <a:ext uri="{FF2B5EF4-FFF2-40B4-BE49-F238E27FC236}">
                <a16:creationId xmlns:a16="http://schemas.microsoft.com/office/drawing/2014/main" id="{36C247E1-48F5-AEAC-D6CA-3D08B9C37B07}"/>
              </a:ext>
            </a:extLst>
          </p:cNvPr>
          <p:cNvPicPr>
            <a:picLocks noChangeAspect="1"/>
          </p:cNvPicPr>
          <p:nvPr/>
        </p:nvPicPr>
        <p:blipFill>
          <a:blip r:embed="rId7"/>
          <a:stretch>
            <a:fillRect/>
          </a:stretch>
        </p:blipFill>
        <p:spPr>
          <a:xfrm>
            <a:off x="1866799" y="4781762"/>
            <a:ext cx="4807052" cy="381142"/>
          </a:xfrm>
          <a:prstGeom prst="rect">
            <a:avLst/>
          </a:prstGeom>
        </p:spPr>
      </p:pic>
      <p:sp>
        <p:nvSpPr>
          <p:cNvPr id="17" name="文本框 16">
            <a:extLst>
              <a:ext uri="{FF2B5EF4-FFF2-40B4-BE49-F238E27FC236}">
                <a16:creationId xmlns:a16="http://schemas.microsoft.com/office/drawing/2014/main" id="{CD6C3321-8AA1-CD70-1F2C-FE7A623BB1E9}"/>
              </a:ext>
            </a:extLst>
          </p:cNvPr>
          <p:cNvSpPr txBox="1"/>
          <p:nvPr/>
        </p:nvSpPr>
        <p:spPr>
          <a:xfrm>
            <a:off x="609600" y="5324612"/>
            <a:ext cx="1435100" cy="400110"/>
          </a:xfrm>
          <a:prstGeom prst="rect">
            <a:avLst/>
          </a:prstGeom>
          <a:noFill/>
        </p:spPr>
        <p:txBody>
          <a:bodyPr wrap="square" rtlCol="0">
            <a:spAutoFit/>
          </a:bodyPr>
          <a:lstStyle/>
          <a:p>
            <a:r>
              <a:rPr lang="zh-CN" altLang="en-US" sz="2000" dirty="0">
                <a:latin typeface="宋体" panose="02010600030101010101" pitchFamily="2" charset="-122"/>
                <a:ea typeface="宋体" panose="02010600030101010101" pitchFamily="2" charset="-122"/>
              </a:rPr>
              <a:t>最终除以</a:t>
            </a:r>
          </a:p>
        </p:txBody>
      </p:sp>
      <p:pic>
        <p:nvPicPr>
          <p:cNvPr id="18" name="图片 17">
            <a:extLst>
              <a:ext uri="{FF2B5EF4-FFF2-40B4-BE49-F238E27FC236}">
                <a16:creationId xmlns:a16="http://schemas.microsoft.com/office/drawing/2014/main" id="{E5AF6A6E-24C4-5E6A-FA5F-323C5361C300}"/>
              </a:ext>
            </a:extLst>
          </p:cNvPr>
          <p:cNvPicPr>
            <a:picLocks noChangeAspect="1"/>
          </p:cNvPicPr>
          <p:nvPr/>
        </p:nvPicPr>
        <p:blipFill>
          <a:blip r:embed="rId8"/>
          <a:stretch>
            <a:fillRect/>
          </a:stretch>
        </p:blipFill>
        <p:spPr>
          <a:xfrm>
            <a:off x="1812885" y="5382400"/>
            <a:ext cx="1543129" cy="355618"/>
          </a:xfrm>
          <a:prstGeom prst="rect">
            <a:avLst/>
          </a:prstGeom>
        </p:spPr>
      </p:pic>
      <p:sp>
        <p:nvSpPr>
          <p:cNvPr id="19" name="文本框 18">
            <a:extLst>
              <a:ext uri="{FF2B5EF4-FFF2-40B4-BE49-F238E27FC236}">
                <a16:creationId xmlns:a16="http://schemas.microsoft.com/office/drawing/2014/main" id="{5CB69FDB-DAEB-4112-A2CE-E3A605B87C87}"/>
              </a:ext>
            </a:extLst>
          </p:cNvPr>
          <p:cNvSpPr txBox="1"/>
          <p:nvPr/>
        </p:nvSpPr>
        <p:spPr>
          <a:xfrm>
            <a:off x="3356014" y="5337908"/>
            <a:ext cx="1812886" cy="400110"/>
          </a:xfrm>
          <a:prstGeom prst="rect">
            <a:avLst/>
          </a:prstGeom>
          <a:noFill/>
        </p:spPr>
        <p:txBody>
          <a:bodyPr wrap="square" rtlCol="0">
            <a:spAutoFit/>
          </a:bodyPr>
          <a:lstStyle/>
          <a:p>
            <a:r>
              <a:rPr lang="zh-CN" altLang="en-US" sz="2000" dirty="0">
                <a:latin typeface="宋体" panose="02010600030101010101" pitchFamily="2" charset="-122"/>
                <a:ea typeface="宋体" panose="02010600030101010101" pitchFamily="2" charset="-122"/>
              </a:rPr>
              <a:t>进行归一化</a:t>
            </a:r>
          </a:p>
        </p:txBody>
      </p:sp>
    </p:spTree>
    <p:extLst>
      <p:ext uri="{BB962C8B-B14F-4D97-AF65-F5344CB8AC3E}">
        <p14:creationId xmlns:p14="http://schemas.microsoft.com/office/powerpoint/2010/main" val="10233788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225B07B8-764A-A790-F429-2109EC5945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Tree>
    <p:extLst>
      <p:ext uri="{BB962C8B-B14F-4D97-AF65-F5344CB8AC3E}">
        <p14:creationId xmlns:p14="http://schemas.microsoft.com/office/powerpoint/2010/main" val="204175627"/>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218</TotalTime>
  <Words>1391</Words>
  <Application>Microsoft Office PowerPoint</Application>
  <PresentationFormat>宽屏</PresentationFormat>
  <Paragraphs>97</Paragraphs>
  <Slides>7</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7</vt:i4>
      </vt:variant>
    </vt:vector>
  </HeadingPairs>
  <TitlesOfParts>
    <vt:vector size="15" baseType="lpstr">
      <vt:lpstr>等线</vt:lpstr>
      <vt:lpstr>等线 Light</vt:lpstr>
      <vt:lpstr>宋体</vt:lpstr>
      <vt:lpstr>微软雅黑</vt:lpstr>
      <vt:lpstr>Arial</vt:lpstr>
      <vt:lpstr>Cambria Math</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#ZHANG BANGHAI#</dc:creator>
  <cp:lastModifiedBy>#ZHANG BANGHAI#</cp:lastModifiedBy>
  <cp:revision>8</cp:revision>
  <dcterms:created xsi:type="dcterms:W3CDTF">2026-08-14T09:36:24Z</dcterms:created>
  <dcterms:modified xsi:type="dcterms:W3CDTF">2026-08-14T13:14:42Z</dcterms:modified>
</cp:coreProperties>
</file>